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0C0961-3EA6-49D6-8551-06277C8CFAF9}" v="169" dt="2026-05-24T20:53:30.7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7C5C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4572000" cy="4572000"/>
          </a:xfrm>
          <a:prstGeom prst="ellipse">
            <a:avLst/>
          </a:prstGeom>
          <a:solidFill>
            <a:srgbClr val="00D4FF">
              <a:alpha val="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5486400" y="-1371600"/>
            <a:ext cx="3657600" cy="3657600"/>
          </a:xfrm>
          <a:prstGeom prst="ellipse">
            <a:avLst/>
          </a:prstGeom>
          <a:solidFill>
            <a:srgbClr val="FF6EC7">
              <a:alpha val="7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029200" y="164592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996546" y="1745611"/>
            <a:ext cx="1894108" cy="184666"/>
          </a:xfrm>
          <a:prstGeom prst="rect">
            <a:avLst/>
          </a:prstGeom>
          <a:noFill/>
        </p:spPr>
        <p:txBody>
          <a:bodyPr wrap="square" lIns="228600" tIns="0" rIns="22860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OOP COURSE PROJECT</a:t>
            </a:r>
            <a:endParaRPr lang="ru-RU">
              <a:ea typeface="Calibri"/>
              <a:cs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111556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800" b="1" i="0">
                <a:solidFill>
                  <a:srgbClr val="F5F5FA"/>
                </a:solidFill>
                <a:latin typeface="Calibri"/>
              </a:rPr>
              <a:t>StudyTable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40480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0" i="1">
                <a:solidFill>
                  <a:srgbClr val="A8A8C0"/>
                </a:solidFill>
                <a:latin typeface="Calibri"/>
              </a:rPr>
              <a:t>A small university — all in one desktop app.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4528" y="4754880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68437" y="4854571"/>
            <a:ext cx="699166" cy="184666"/>
          </a:xfrm>
          <a:prstGeom prst="rect">
            <a:avLst/>
          </a:prstGeom>
          <a:noFill/>
        </p:spPr>
        <p:txBody>
          <a:bodyPr wrap="square" lIns="228600" tIns="0" rIns="22860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C++</a:t>
            </a:r>
            <a:endParaRPr lang="ru-RU">
              <a:ea typeface="Calibri"/>
              <a:cs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638602" y="4754880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85619" y="4854571"/>
            <a:ext cx="620363" cy="184666"/>
          </a:xfrm>
          <a:prstGeom prst="rect">
            <a:avLst/>
          </a:prstGeom>
          <a:noFill/>
        </p:spPr>
        <p:txBody>
          <a:bodyPr wrap="square" lIns="228600" tIns="0" rIns="22860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Qt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4754880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75120" y="4854571"/>
            <a:ext cx="914400" cy="184666"/>
          </a:xfrm>
          <a:prstGeom prst="rect">
            <a:avLst/>
          </a:prstGeom>
          <a:noFill/>
        </p:spPr>
        <p:txBody>
          <a:bodyPr wrap="square" lIns="228600" tIns="0" rIns="22860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5F5FA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A8A8C0"/>
                </a:solidFill>
                <a:latin typeface="Calibri"/>
              </a:rPr>
              <a:t>Why we built this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463040" cy="381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5577840" cy="4023360"/>
          </a:xfrm>
          <a:prstGeom prst="roundRect">
            <a:avLst>
              <a:gd name="adj" fmla="val 8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0D4FF"/>
                </a:solidFill>
                <a:latin typeface="Calibri"/>
              </a:rPr>
              <a:t>In real life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97480"/>
            <a:ext cx="5029200" cy="3063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5F5FA"/>
                </a:solidFill>
                <a:latin typeface="Calibri"/>
              </a:rPr>
              <a:t>A small school needs to keep track of:</a:t>
            </a:r>
          </a:p>
          <a:p>
            <a:pPr algn="l"/>
            <a:endParaRPr sz="1400" b="0" i="0">
              <a:solidFill>
                <a:srgbClr val="F5F5FA"/>
              </a:solidFill>
              <a:latin typeface="Calibri"/>
            </a:endParaRPr>
          </a:p>
          <a:p>
            <a:pPr algn="l"/>
            <a:r>
              <a:rPr sz="1400" b="0" i="0">
                <a:solidFill>
                  <a:srgbClr val="F5F5FA"/>
                </a:solidFill>
                <a:latin typeface="Calibri"/>
              </a:rPr>
              <a:t>  •  Who are the students?</a:t>
            </a:r>
          </a:p>
          <a:p>
            <a:pPr algn="l"/>
            <a:r>
              <a:rPr sz="1400" b="0" i="0">
                <a:solidFill>
                  <a:srgbClr val="F5F5FA"/>
                </a:solidFill>
                <a:latin typeface="Calibri"/>
              </a:rPr>
              <a:t>  •  Who are the teachers?</a:t>
            </a:r>
          </a:p>
          <a:p>
            <a:pPr algn="l"/>
            <a:r>
              <a:rPr sz="1400" b="0" i="0">
                <a:solidFill>
                  <a:srgbClr val="F5F5FA"/>
                </a:solidFill>
                <a:latin typeface="Calibri"/>
              </a:rPr>
              <a:t>  •  Which courses exist?</a:t>
            </a:r>
          </a:p>
          <a:p>
            <a:pPr algn="l"/>
            <a:r>
              <a:rPr sz="1400" b="0" i="0">
                <a:solidFill>
                  <a:srgbClr val="F5F5FA"/>
                </a:solidFill>
                <a:latin typeface="Calibri"/>
              </a:rPr>
              <a:t>  •  Who studies what?</a:t>
            </a:r>
          </a:p>
          <a:p>
            <a:pPr algn="l"/>
            <a:r>
              <a:rPr sz="1400" b="0" i="0">
                <a:solidFill>
                  <a:srgbClr val="F5F5FA"/>
                </a:solidFill>
                <a:latin typeface="Calibri"/>
              </a:rPr>
              <a:t>  •  What grades did they get?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920240"/>
            <a:ext cx="5577840" cy="4023360"/>
          </a:xfrm>
          <a:prstGeom prst="roundRect">
            <a:avLst>
              <a:gd name="adj" fmla="val 8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214884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0D4FF"/>
                </a:solidFill>
                <a:latin typeface="Calibri"/>
              </a:rPr>
              <a:t>The old 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97480"/>
            <a:ext cx="5029200" cy="3063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5F5FA"/>
                </a:solidFill>
                <a:latin typeface="Calibri"/>
              </a:rPr>
              <a:t>Paper, Excel files, lost notes,</a:t>
            </a:r>
          </a:p>
          <a:p>
            <a:pPr algn="l"/>
            <a:r>
              <a:rPr sz="1400" b="0" i="0">
                <a:solidFill>
                  <a:srgbClr val="F5F5FA"/>
                </a:solidFill>
                <a:latin typeface="Calibri"/>
              </a:rPr>
              <a:t>no roles, no rules.</a:t>
            </a:r>
          </a:p>
          <a:p>
            <a:pPr algn="l"/>
            <a:endParaRPr sz="1400" b="0" i="0">
              <a:solidFill>
                <a:srgbClr val="F5F5FA"/>
              </a:solidFill>
              <a:latin typeface="Calibri"/>
            </a:endParaRPr>
          </a:p>
          <a:p>
            <a:pPr algn="l"/>
            <a:r>
              <a:rPr sz="1400" b="0" i="0">
                <a:solidFill>
                  <a:srgbClr val="F5F5FA"/>
                </a:solidFill>
                <a:latin typeface="Calibri"/>
              </a:rPr>
              <a:t>We wanted one simple app where</a:t>
            </a:r>
          </a:p>
          <a:p>
            <a:pPr algn="l"/>
            <a:r>
              <a:rPr sz="1400" b="0" i="0">
                <a:solidFill>
                  <a:srgbClr val="F5F5FA"/>
                </a:solidFill>
                <a:latin typeface="Calibri"/>
              </a:rPr>
              <a:t>everyone has their own view</a:t>
            </a:r>
          </a:p>
          <a:p>
            <a:pPr algn="l"/>
            <a:r>
              <a:rPr sz="1400" b="0" i="0">
                <a:solidFill>
                  <a:srgbClr val="F5F5FA"/>
                </a:solidFill>
                <a:latin typeface="Calibri"/>
              </a:rPr>
              <a:t>and the data is always safe on disk.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8A8C0"/>
                </a:solidFill>
                <a:latin typeface="Calibri"/>
              </a:rPr>
              <a:t>StudyTable  ·  C++ / Qt  ·  OOP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A8A8C0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5F5FA"/>
                </a:solidFill>
                <a:latin typeface="Calibri"/>
              </a:rP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A8A8C0"/>
                </a:solidFill>
                <a:latin typeface="Calibri"/>
              </a:rPr>
              <a:t>StudyTable — one app, three roles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463040" cy="381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72287" y="2103120"/>
            <a:ext cx="3657600" cy="3474720"/>
          </a:xfrm>
          <a:prstGeom prst="roundRect">
            <a:avLst>
              <a:gd name="adj" fmla="val 8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2287" y="2331720"/>
            <a:ext cx="3657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000" b="0" i="0">
                <a:solidFill>
                  <a:srgbClr val="F5F5FA"/>
                </a:solidFill>
                <a:latin typeface="Calibri"/>
              </a:rPr>
              <a:t>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287" y="3657600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00D4FF"/>
                </a:solidFill>
                <a:latin typeface="Calibri"/>
              </a:rPr>
              <a:t>Admin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607" y="429768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F5F5FA"/>
                </a:solidFill>
                <a:latin typeface="Calibri"/>
              </a:rPr>
              <a:t>Creates courses and enrolls students into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7047" y="2103120"/>
            <a:ext cx="3657600" cy="3474720"/>
          </a:xfrm>
          <a:prstGeom prst="roundRect">
            <a:avLst>
              <a:gd name="adj" fmla="val 8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67047" y="2331720"/>
            <a:ext cx="3657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000" b="0" i="0">
                <a:solidFill>
                  <a:srgbClr val="F5F5FA"/>
                </a:solidFill>
                <a:latin typeface="Calibri"/>
              </a:rPr>
              <a:t>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7047" y="3657600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00D4FF"/>
                </a:solidFill>
                <a:latin typeface="Calibri"/>
              </a:rPr>
              <a:t>Teacher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1367" y="429768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F5F5FA"/>
                </a:solidFill>
                <a:latin typeface="Calibri"/>
              </a:rPr>
              <a:t>Sees their courses, their students, and gives grades.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1807" y="2103120"/>
            <a:ext cx="3657600" cy="3474720"/>
          </a:xfrm>
          <a:prstGeom prst="roundRect">
            <a:avLst>
              <a:gd name="adj" fmla="val 8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61807" y="2331720"/>
            <a:ext cx="3657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000" b="0" i="0">
                <a:solidFill>
                  <a:srgbClr val="F5F5FA"/>
                </a:solidFill>
                <a:latin typeface="Calibri"/>
              </a:rPr>
              <a:t>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1807" y="3657600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00D4FF"/>
                </a:solidFill>
                <a:latin typeface="Calibri"/>
              </a:rPr>
              <a:t>Student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6127" y="429768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F5F5FA"/>
                </a:solidFill>
                <a:latin typeface="Calibri"/>
              </a:rPr>
              <a:t>Sees their courses, their grades, and their average.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52160"/>
            <a:ext cx="11155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1">
                <a:solidFill>
                  <a:srgbClr val="A8A8C0"/>
                </a:solidFill>
                <a:latin typeface="Calibri"/>
              </a:rPr>
              <a:t>Login → role detected → the right window opens. Simple.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8A8C0"/>
                </a:solidFill>
                <a:latin typeface="Calibri"/>
              </a:rPr>
              <a:t>StudyTable  ·  C++ / Qt  ·  OOP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A8A8C0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5F5FA"/>
                </a:solidFill>
                <a:latin typeface="Calibri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A8A8C0"/>
                </a:solidFill>
                <a:latin typeface="Calibri"/>
              </a:rPr>
              <a:t>Tools we used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463040" cy="381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1463040" cy="384048"/>
          </a:xfrm>
          <a:prstGeom prst="rect">
            <a:avLst/>
          </a:prstGeom>
          <a:noFill/>
        </p:spPr>
        <p:txBody>
          <a:bodyPr wrap="none" lIns="228600" tIns="0" rIns="22860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C++17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192024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467552" y="2019931"/>
            <a:ext cx="734175" cy="184666"/>
          </a:xfrm>
          <a:prstGeom prst="rect">
            <a:avLst/>
          </a:prstGeom>
          <a:noFill/>
        </p:spPr>
        <p:txBody>
          <a:bodyPr wrap="none" lIns="228600" tIns="0" rIns="22860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Qt 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92024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FF6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0" y="1920240"/>
            <a:ext cx="1463040" cy="384048"/>
          </a:xfrm>
          <a:prstGeom prst="rect">
            <a:avLst/>
          </a:prstGeom>
          <a:noFill/>
        </p:spPr>
        <p:txBody>
          <a:bodyPr wrap="none" lIns="228600" tIns="0" rIns="22860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QtWidgets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12080" y="192024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12080" y="1920240"/>
            <a:ext cx="1463040" cy="384048"/>
          </a:xfrm>
          <a:prstGeom prst="rect">
            <a:avLst/>
          </a:prstGeom>
          <a:noFill/>
        </p:spPr>
        <p:txBody>
          <a:bodyPr wrap="none" lIns="228600" tIns="0" rIns="22860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CMake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6560" y="192024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1920240"/>
            <a:ext cx="1463040" cy="384048"/>
          </a:xfrm>
          <a:prstGeom prst="rect">
            <a:avLst/>
          </a:prstGeom>
          <a:noFill/>
        </p:spPr>
        <p:txBody>
          <a:bodyPr wrap="none" lIns="228600" tIns="0" rIns="22860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.txt storage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192024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FF6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1040" y="1920240"/>
            <a:ext cx="1463040" cy="384048"/>
          </a:xfrm>
          <a:prstGeom prst="rect">
            <a:avLst/>
          </a:prstGeom>
          <a:noFill/>
        </p:spPr>
        <p:txBody>
          <a:bodyPr wrap="none" lIns="228600" tIns="0" rIns="22860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926080"/>
            <a:ext cx="5577840" cy="3200400"/>
          </a:xfrm>
          <a:prstGeom prst="roundRect">
            <a:avLst>
              <a:gd name="adj" fmla="val 8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315468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0D4FF"/>
                </a:solidFill>
                <a:latin typeface="Calibri"/>
              </a:rPr>
              <a:t>Why C++ and Qt?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703320"/>
            <a:ext cx="5029200" cy="2240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5F5FA"/>
                </a:solidFill>
                <a:latin typeface="Calibri"/>
              </a:rPr>
              <a:t>→  Classic OOP language. Perfect for the course.</a:t>
            </a:r>
          </a:p>
          <a:p>
            <a:pPr algn="l"/>
            <a:r>
              <a:rPr sz="1400" b="0" i="0">
                <a:solidFill>
                  <a:srgbClr val="F5F5FA"/>
                </a:solidFill>
                <a:latin typeface="Calibri"/>
              </a:rPr>
              <a:t>→  Qt gives us a native UI fast.</a:t>
            </a:r>
          </a:p>
          <a:p>
            <a:pPr algn="l"/>
            <a:r>
              <a:rPr sz="1400" b="0" i="0">
                <a:solidFill>
                  <a:srgbClr val="F5F5FA"/>
                </a:solidFill>
                <a:latin typeface="Calibri"/>
              </a:rPr>
              <a:t>→  Cross-platform: Windows, macOS, Linux.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2926080"/>
            <a:ext cx="5577840" cy="3200400"/>
          </a:xfrm>
          <a:prstGeom prst="roundRect">
            <a:avLst>
              <a:gd name="adj" fmla="val 8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29400" y="315468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0D4FF"/>
                </a:solidFill>
                <a:latin typeface="Calibri"/>
              </a:rPr>
              <a:t>Why text files, not a database?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03320"/>
            <a:ext cx="5029200" cy="2240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5F5FA"/>
                </a:solidFill>
                <a:latin typeface="Calibri"/>
              </a:rPr>
              <a:t>→  The focus is OOP, not SQL.</a:t>
            </a:r>
          </a:p>
          <a:p>
            <a:pPr algn="l"/>
            <a:r>
              <a:rPr sz="1400" b="0" i="0">
                <a:solidFill>
                  <a:srgbClr val="F5F5FA"/>
                </a:solidFill>
                <a:latin typeface="Calibri"/>
              </a:rPr>
              <a:t>→  Easy to read, easy to share.</a:t>
            </a:r>
          </a:p>
          <a:p>
            <a:pPr algn="l"/>
            <a:r>
              <a:rPr sz="1400" b="0" i="0">
                <a:solidFill>
                  <a:srgbClr val="F5F5FA"/>
                </a:solidFill>
                <a:latin typeface="Calibri"/>
              </a:rPr>
              <a:t>→  One FileManager class hides all I/O.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8A8C0"/>
                </a:solidFill>
                <a:latin typeface="Calibri"/>
              </a:rPr>
              <a:t>StudyTable  ·  C++ / Qt  ·  OOP Project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A8A8C0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5F5FA"/>
                </a:solidFill>
                <a:latin typeface="Calibri"/>
              </a:rPr>
              <a:t>Architecture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A8A8C0"/>
                </a:solidFill>
                <a:latin typeface="Calibri"/>
              </a:rPr>
              <a:t>UI on top  ·  logic in FileManager  ·  data in plain 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463040" cy="381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114800" y="1828800"/>
            <a:ext cx="3931920" cy="548640"/>
          </a:xfrm>
          <a:prstGeom prst="roundRect">
            <a:avLst>
              <a:gd name="adj" fmla="val 10000"/>
            </a:avLst>
          </a:prstGeom>
          <a:solidFill>
            <a:srgbClr val="1B1B38"/>
          </a:solidFill>
          <a:ln w="1270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0" y="1828800"/>
            <a:ext cx="39319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5F5FA"/>
                </a:solidFill>
                <a:latin typeface="Calibri"/>
              </a:rPr>
              <a:t>main.cpp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2651760"/>
            <a:ext cx="3931920" cy="548640"/>
          </a:xfrm>
          <a:prstGeom prst="roundRect">
            <a:avLst>
              <a:gd name="adj" fmla="val 10000"/>
            </a:avLst>
          </a:prstGeom>
          <a:solidFill>
            <a:srgbClr val="1B1B38"/>
          </a:solidFill>
          <a:ln w="1270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0" y="2651760"/>
            <a:ext cx="39319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5F5FA"/>
                </a:solidFill>
                <a:latin typeface="Calibri"/>
              </a:rPr>
              <a:t>LoginWindow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57600"/>
            <a:ext cx="3291840" cy="548640"/>
          </a:xfrm>
          <a:prstGeom prst="roundRect">
            <a:avLst>
              <a:gd name="adj" fmla="val 10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365760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5F5FA"/>
                </a:solidFill>
                <a:latin typeface="Calibri"/>
              </a:rPr>
              <a:t>AdminWindow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3657600"/>
            <a:ext cx="3291840" cy="548640"/>
          </a:xfrm>
          <a:prstGeom prst="roundRect">
            <a:avLst>
              <a:gd name="adj" fmla="val 10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4840" y="365760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5F5FA"/>
                </a:solidFill>
                <a:latin typeface="Calibri"/>
              </a:rPr>
              <a:t>TeacherWindow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3657600"/>
            <a:ext cx="3291840" cy="548640"/>
          </a:xfrm>
          <a:prstGeom prst="roundRect">
            <a:avLst>
              <a:gd name="adj" fmla="val 10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38160" y="365760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5F5FA"/>
                </a:solidFill>
                <a:latin typeface="Calibri"/>
              </a:rPr>
              <a:t>StudentWindow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0" y="4663440"/>
            <a:ext cx="4846320" cy="594360"/>
          </a:xfrm>
          <a:prstGeom prst="roundRect">
            <a:avLst>
              <a:gd name="adj" fmla="val 10000"/>
            </a:avLst>
          </a:prstGeom>
          <a:solidFill>
            <a:srgbClr val="14142B"/>
          </a:solidFill>
          <a:ln w="12700">
            <a:solidFill>
              <a:srgbClr val="FF6E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0" y="4663440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  <a:latin typeface="Calibri"/>
              </a:rPr>
              <a:t>FileManager   (users / courses / enrollments / grades)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5577840"/>
            <a:ext cx="3931920" cy="502920"/>
          </a:xfrm>
          <a:prstGeom prst="roundRect">
            <a:avLst>
              <a:gd name="adj" fmla="val 10000"/>
            </a:avLst>
          </a:prstGeom>
          <a:solidFill>
            <a:srgbClr val="1B1B38"/>
          </a:solidFill>
          <a:ln w="12700">
            <a:solidFill>
              <a:srgbClr val="FF6E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14800" y="5577840"/>
            <a:ext cx="3931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5F5FA"/>
                </a:solidFill>
                <a:latin typeface="Calibri"/>
              </a:rPr>
              <a:t>.txt data files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80760" y="2377440"/>
            <a:ext cx="0" cy="274320"/>
          </a:xfrm>
          <a:prstGeom prst="bentConnector3">
            <a:avLst/>
          </a:prstGeom>
          <a:ln w="25400">
            <a:solidFill>
              <a:srgbClr val="00D4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377440" y="3200400"/>
            <a:ext cx="3703320" cy="457200"/>
          </a:xfrm>
          <a:prstGeom prst="bentConnector3">
            <a:avLst/>
          </a:prstGeom>
          <a:ln w="25400">
            <a:solidFill>
              <a:srgbClr val="00D4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80760" y="3200400"/>
            <a:ext cx="0" cy="457200"/>
          </a:xfrm>
          <a:prstGeom prst="bentConnector3">
            <a:avLst/>
          </a:prstGeom>
          <a:ln w="25400">
            <a:solidFill>
              <a:srgbClr val="00D4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080760" y="3200400"/>
            <a:ext cx="3703320" cy="457200"/>
          </a:xfrm>
          <a:prstGeom prst="bentConnector3">
            <a:avLst/>
          </a:prstGeom>
          <a:ln w="25400">
            <a:solidFill>
              <a:srgbClr val="00D4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377440" y="4206240"/>
            <a:ext cx="3703320" cy="457200"/>
          </a:xfrm>
          <a:prstGeom prst="bentConnector3">
            <a:avLst/>
          </a:prstGeom>
          <a:ln w="25400">
            <a:solidFill>
              <a:srgbClr val="00D4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80760" y="4206240"/>
            <a:ext cx="0" cy="457200"/>
          </a:xfrm>
          <a:prstGeom prst="bentConnector3">
            <a:avLst/>
          </a:prstGeom>
          <a:ln w="25400">
            <a:solidFill>
              <a:srgbClr val="00D4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6080760" y="4206240"/>
            <a:ext cx="3703320" cy="457200"/>
          </a:xfrm>
          <a:prstGeom prst="bentConnector3">
            <a:avLst/>
          </a:prstGeom>
          <a:ln w="25400">
            <a:solidFill>
              <a:srgbClr val="00D4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80760" y="5257800"/>
            <a:ext cx="0" cy="320040"/>
          </a:xfrm>
          <a:prstGeom prst="bentConnector3">
            <a:avLst/>
          </a:prstGeom>
          <a:ln w="25400">
            <a:solidFill>
              <a:srgbClr val="00D4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8A8C0"/>
                </a:solidFill>
                <a:latin typeface="Calibri"/>
              </a:rPr>
              <a:t>StudyTable  ·  C++ / Qt  ·  OOP Project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A8A8C0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5F5FA"/>
                </a:solidFill>
                <a:latin typeface="Calibri"/>
              </a:rPr>
              <a:t>The 4 Pillars of 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A8A8C0"/>
                </a:solidFill>
                <a:latin typeface="Calibri"/>
              </a:rPr>
              <a:t>Let's see where each pillar lives in our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463040" cy="381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6879" y="2743200"/>
            <a:ext cx="2606040" cy="2743200"/>
          </a:xfrm>
          <a:prstGeom prst="roundRect">
            <a:avLst>
              <a:gd name="adj" fmla="val 10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6879" y="3017520"/>
            <a:ext cx="2606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600" b="0" i="0">
                <a:solidFill>
                  <a:srgbClr val="F5F5FA"/>
                </a:solidFill>
                <a:latin typeface="Calibri"/>
              </a:rPr>
              <a:t>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879" y="448056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00D4FF"/>
                </a:solidFill>
                <a:latin typeface="Calibri"/>
              </a:rPr>
              <a:t>Encapsulation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7511" y="2743200"/>
            <a:ext cx="2606040" cy="2743200"/>
          </a:xfrm>
          <a:prstGeom prst="roundRect">
            <a:avLst>
              <a:gd name="adj" fmla="val 10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07511" y="3017520"/>
            <a:ext cx="2606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600" b="0" i="0">
                <a:solidFill>
                  <a:srgbClr val="F5F5FA"/>
                </a:solidFill>
                <a:latin typeface="Calibri"/>
              </a:rPr>
              <a:t>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7511" y="448056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00D4FF"/>
                </a:solidFill>
                <a:latin typeface="Calibri"/>
              </a:rPr>
              <a:t>Inheritance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8143" y="2743200"/>
            <a:ext cx="2606040" cy="2743200"/>
          </a:xfrm>
          <a:prstGeom prst="roundRect">
            <a:avLst>
              <a:gd name="adj" fmla="val 10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78143" y="3017520"/>
            <a:ext cx="2606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600" b="0" i="0">
                <a:solidFill>
                  <a:srgbClr val="F5F5FA"/>
                </a:solidFill>
                <a:latin typeface="Calibri"/>
              </a:rPr>
              <a:t>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8143" y="448056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00D4FF"/>
                </a:solidFill>
                <a:latin typeface="Calibri"/>
              </a:rPr>
              <a:t>Polymorphism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48775" y="2743200"/>
            <a:ext cx="2606040" cy="2743200"/>
          </a:xfrm>
          <a:prstGeom prst="roundRect">
            <a:avLst>
              <a:gd name="adj" fmla="val 10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48775" y="3017520"/>
            <a:ext cx="2606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600" b="0" i="0">
                <a:solidFill>
                  <a:srgbClr val="F5F5FA"/>
                </a:solidFill>
                <a:latin typeface="Calibri"/>
              </a:rPr>
              <a:t>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48775" y="4480560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00D4FF"/>
                </a:solidFill>
                <a:latin typeface="Calibri"/>
              </a:rPr>
              <a:t>Abstraction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8A8C0"/>
                </a:solidFill>
                <a:latin typeface="Calibri"/>
              </a:rPr>
              <a:t>StudyTable  ·  C++ / Qt  ·  OOP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A8A8C0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5F5FA"/>
                </a:solidFill>
                <a:latin typeface="Calibri"/>
              </a:rPr>
              <a:t>🔒  Encapsulation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A8A8C0"/>
                </a:solidFill>
                <a:latin typeface="Calibri"/>
              </a:rPr>
              <a:t>Hide the data, expose only safe methods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463040" cy="381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6858000" cy="4206240"/>
          </a:xfrm>
          <a:prstGeom prst="roundRect">
            <a:avLst>
              <a:gd name="adj" fmla="val 6000"/>
            </a:avLst>
          </a:prstGeom>
          <a:solidFill>
            <a:srgbClr val="1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057400"/>
            <a:ext cx="64922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class User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{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private: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    static int s_nextId;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protected: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    int     m_id;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    QString m_login;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    QString m_password;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    QString m_fullName;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public: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    int     getId();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    QString getLogin();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    QString getFullName();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    void setLogin(QString login);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    void setPassword(QString password);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    void setFullName(QString fullName);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};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1920240"/>
            <a:ext cx="4297680" cy="4206240"/>
          </a:xfrm>
          <a:prstGeom prst="roundRect">
            <a:avLst>
              <a:gd name="adj" fmla="val 8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63840" y="2148840"/>
            <a:ext cx="3749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0D4FF"/>
                </a:solidFill>
                <a:latin typeface="Calibri"/>
              </a:rPr>
              <a:t>What's happening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697480"/>
            <a:ext cx="3749040" cy="3246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5F5FA"/>
                </a:solidFill>
                <a:latin typeface="Calibri"/>
              </a:rPr>
              <a:t>→  Fields are private / protected.</a:t>
            </a:r>
          </a:p>
          <a:p>
            <a:pPr algn="l"/>
            <a:endParaRPr sz="1300" b="0" i="0">
              <a:solidFill>
                <a:srgbClr val="F5F5FA"/>
              </a:solidFill>
              <a:latin typeface="Calibri"/>
            </a:endParaRPr>
          </a:p>
          <a:p>
            <a:pPr algn="l"/>
            <a:r>
              <a:rPr sz="1300" b="0" i="0">
                <a:solidFill>
                  <a:srgbClr val="F5F5FA"/>
                </a:solidFill>
                <a:latin typeface="Calibri"/>
              </a:rPr>
              <a:t>→  The outside world only sees</a:t>
            </a:r>
          </a:p>
          <a:p>
            <a:pPr algn="l"/>
            <a:r>
              <a:rPr sz="1300" b="0" i="0">
                <a:solidFill>
                  <a:srgbClr val="F5F5FA"/>
                </a:solidFill>
                <a:latin typeface="Calibri"/>
              </a:rPr>
              <a:t>     getters and setters.</a:t>
            </a:r>
          </a:p>
          <a:p>
            <a:pPr algn="l"/>
            <a:endParaRPr sz="1300" b="0" i="0">
              <a:solidFill>
                <a:srgbClr val="F5F5FA"/>
              </a:solidFill>
              <a:latin typeface="Calibri"/>
            </a:endParaRPr>
          </a:p>
          <a:p>
            <a:pPr algn="l"/>
            <a:r>
              <a:rPr sz="1300" b="0" i="0">
                <a:solidFill>
                  <a:srgbClr val="F5F5FA"/>
                </a:solidFill>
                <a:latin typeface="Calibri"/>
              </a:rPr>
              <a:t>→  We control how the data</a:t>
            </a:r>
          </a:p>
          <a:p>
            <a:pPr algn="l"/>
            <a:r>
              <a:rPr sz="1300" b="0" i="0">
                <a:solidFill>
                  <a:srgbClr val="F5F5FA"/>
                </a:solidFill>
                <a:latin typeface="Calibri"/>
              </a:rPr>
              <a:t>     is changed and validated.</a:t>
            </a:r>
          </a:p>
          <a:p>
            <a:pPr algn="l"/>
            <a:endParaRPr sz="1300" b="0" i="0">
              <a:solidFill>
                <a:srgbClr val="F5F5FA"/>
              </a:solidFill>
              <a:latin typeface="Calibri"/>
            </a:endParaRPr>
          </a:p>
          <a:p>
            <a:pPr algn="l"/>
            <a:r>
              <a:rPr sz="1300" b="0" i="0">
                <a:solidFill>
                  <a:srgbClr val="F5F5FA"/>
                </a:solidFill>
                <a:latin typeface="Calibri"/>
              </a:rPr>
              <a:t>→  Tomorrow we could add</a:t>
            </a:r>
          </a:p>
          <a:p>
            <a:pPr algn="l"/>
            <a:r>
              <a:rPr sz="1300" b="0" i="0">
                <a:solidFill>
                  <a:srgbClr val="F5F5FA"/>
                </a:solidFill>
                <a:latin typeface="Calibri"/>
              </a:rPr>
              <a:t>     password hashing inside</a:t>
            </a:r>
          </a:p>
          <a:p>
            <a:pPr algn="l"/>
            <a:r>
              <a:rPr sz="1300" b="0" i="0">
                <a:solidFill>
                  <a:srgbClr val="F5F5FA"/>
                </a:solidFill>
                <a:latin typeface="Calibri"/>
              </a:rPr>
              <a:t>     setPassword() — no caller</a:t>
            </a:r>
          </a:p>
          <a:p>
            <a:pPr algn="l"/>
            <a:r>
              <a:rPr sz="1300" b="0" i="0">
                <a:solidFill>
                  <a:srgbClr val="F5F5FA"/>
                </a:solidFill>
                <a:latin typeface="Calibri"/>
              </a:rPr>
              <a:t>     would even notice.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8A8C0"/>
                </a:solidFill>
                <a:latin typeface="Calibri"/>
              </a:rPr>
              <a:t>StudyTable  ·  C++ / Qt  ·  OOP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A8A8C0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5F5FA"/>
                </a:solidFill>
                <a:latin typeface="Calibri"/>
              </a:rPr>
              <a:t>🌳  Inheritance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A8A8C0"/>
                </a:solidFill>
                <a:latin typeface="Calibri"/>
              </a:rPr>
              <a:t>One base class, three child classes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463040" cy="381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194560" y="2103120"/>
            <a:ext cx="2103120" cy="640080"/>
          </a:xfrm>
          <a:prstGeom prst="roundRect">
            <a:avLst>
              <a:gd name="adj" fmla="val 10000"/>
            </a:avLst>
          </a:prstGeom>
          <a:solidFill>
            <a:srgbClr val="14142B"/>
          </a:solidFill>
          <a:ln w="1270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94560" y="2103120"/>
            <a:ext cx="21031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00D4FF"/>
                </a:solidFill>
                <a:latin typeface="Calibri"/>
              </a:rPr>
              <a:t>User  (abstract)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57600"/>
            <a:ext cx="1737360" cy="594360"/>
          </a:xfrm>
          <a:prstGeom prst="roundRect">
            <a:avLst>
              <a:gd name="adj" fmla="val 10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657600"/>
            <a:ext cx="173736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5F5FA"/>
                </a:solidFill>
                <a:latin typeface="Calibri"/>
              </a:rPr>
              <a:t>Admin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3657600"/>
            <a:ext cx="1737360" cy="594360"/>
          </a:xfrm>
          <a:prstGeom prst="roundRect">
            <a:avLst>
              <a:gd name="adj" fmla="val 10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68880" y="3657600"/>
            <a:ext cx="173736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5F5FA"/>
                </a:solidFill>
                <a:latin typeface="Calibri"/>
              </a:rPr>
              <a:t>Teacher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657600"/>
            <a:ext cx="1737360" cy="594360"/>
          </a:xfrm>
          <a:prstGeom prst="roundRect">
            <a:avLst>
              <a:gd name="adj" fmla="val 10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89120" y="3657600"/>
            <a:ext cx="173736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5F5FA"/>
                </a:solidFill>
                <a:latin typeface="Calibri"/>
              </a:rPr>
              <a:t>Student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1417320" y="2743200"/>
            <a:ext cx="1828800" cy="914400"/>
          </a:xfrm>
          <a:prstGeom prst="bentConnector3">
            <a:avLst/>
          </a:prstGeom>
          <a:ln w="19050">
            <a:solidFill>
              <a:srgbClr val="00D4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246120" y="2743200"/>
            <a:ext cx="91440" cy="914400"/>
          </a:xfrm>
          <a:prstGeom prst="bentConnector3">
            <a:avLst/>
          </a:prstGeom>
          <a:ln w="19050">
            <a:solidFill>
              <a:srgbClr val="00D4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46120" y="2743200"/>
            <a:ext cx="2011680" cy="914400"/>
          </a:xfrm>
          <a:prstGeom prst="bentConnector3">
            <a:avLst/>
          </a:prstGeom>
          <a:ln w="19050">
            <a:solidFill>
              <a:srgbClr val="00D4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4572000"/>
            <a:ext cx="61264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A8A8C0"/>
                </a:solidFill>
                <a:latin typeface="Calibri"/>
              </a:rPr>
              <a:t>Each role re-uses the same fields and methods</a:t>
            </a:r>
          </a:p>
          <a:p>
            <a:pPr algn="ctr"/>
            <a:r>
              <a:rPr sz="1400" b="0" i="0">
                <a:solidFill>
                  <a:srgbClr val="A8A8C0"/>
                </a:solidFill>
                <a:latin typeface="Calibri"/>
              </a:rPr>
              <a:t>from User: id, login, password, full name.</a:t>
            </a:r>
          </a:p>
          <a:p>
            <a:pPr algn="ctr"/>
            <a:endParaRPr sz="1400" b="0" i="0">
              <a:solidFill>
                <a:srgbClr val="A8A8C0"/>
              </a:solidFill>
              <a:latin typeface="Calibri"/>
            </a:endParaRPr>
          </a:p>
          <a:p>
            <a:pPr algn="ctr"/>
            <a:r>
              <a:rPr sz="1400" b="0" i="0">
                <a:solidFill>
                  <a:srgbClr val="A8A8C0"/>
                </a:solidFill>
                <a:latin typeface="Calibri"/>
              </a:rPr>
              <a:t>No copy-paste.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192024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1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49440" y="2057400"/>
            <a:ext cx="47548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class Admin   : public User { /* ... */ };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class Teacher : public User { /* ... */ };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class Student : public User { /* ... */ };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// Constructors just forward to User: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Admin::Admin(int id, QString login,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             QString password, QString fullName)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    : User(id, login, password, fullName)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{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8A8C0"/>
                </a:solidFill>
                <a:latin typeface="Calibri"/>
              </a:rPr>
              <a:t>StudyTable  ·  C++ / Qt  ·  OOP Project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A8A8C0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5F5FA"/>
                </a:solidFill>
                <a:latin typeface="Calibri"/>
              </a:rPr>
              <a:t>🎭  Polymorphism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A8A8C0"/>
                </a:solidFill>
                <a:latin typeface="Calibri"/>
              </a:rPr>
              <a:t>Same call, different behavior — decided at runtime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463040" cy="381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6400800" cy="4206240"/>
          </a:xfrm>
          <a:prstGeom prst="roundRect">
            <a:avLst>
              <a:gd name="adj" fmla="val 6000"/>
            </a:avLst>
          </a:prstGeom>
          <a:solidFill>
            <a:srgbClr val="1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057400"/>
            <a:ext cx="60350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class User {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public: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    virtual UserRole getRole()     = 0;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    virtual QString  getRoleName() = 0;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    virtual User*    clone()       = 0;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};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QString Admin::getRoleName()   { return "admin"; }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QString Teacher::getRoleName() { return "teacher"; }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QString Student::getRoleName() { return "student"; }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User* Admin::clone()   { return new Admin(*this); }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User* Teacher::clone() { return new Teacher(*this); }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User* Student::clone() { return new Student(*this); 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920240"/>
            <a:ext cx="4754880" cy="4206240"/>
          </a:xfrm>
          <a:prstGeom prst="roundRect">
            <a:avLst>
              <a:gd name="adj" fmla="val 8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06640" y="2103120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0D4FF"/>
                </a:solidFill>
                <a:latin typeface="Calibri"/>
              </a:rPr>
              <a:t>How we use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2651760"/>
            <a:ext cx="4206240" cy="1920240"/>
          </a:xfrm>
          <a:prstGeom prst="roundRect">
            <a:avLst>
              <a:gd name="adj" fmla="val 6000"/>
            </a:avLst>
          </a:prstGeom>
          <a:solidFill>
            <a:srgbClr val="1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89520" y="2788920"/>
            <a:ext cx="384048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>
                <a:solidFill>
                  <a:srgbClr val="E6E6FA"/>
                </a:solidFill>
                <a:latin typeface="Consolas"/>
              </a:rPr>
              <a:t>User* user = fm-&gt;login(...);</a:t>
            </a:r>
          </a:p>
          <a:p>
            <a:pPr algn="l"/>
            <a:r>
              <a:rPr sz="1100">
                <a:solidFill>
                  <a:srgbClr val="E6E6FA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E6E6FA"/>
                </a:solidFill>
                <a:latin typeface="Consolas"/>
              </a:rPr>
              <a:t>if (user-&gt;getRole() == RoleAdmin)   { ... }</a:t>
            </a:r>
          </a:p>
          <a:p>
            <a:pPr algn="l"/>
            <a:r>
              <a:rPr sz="1100">
                <a:solidFill>
                  <a:srgbClr val="E6E6FA"/>
                </a:solidFill>
                <a:latin typeface="Consolas"/>
              </a:rPr>
              <a:t>if (user-&gt;getRole() == RoleTeacher) { ... }</a:t>
            </a:r>
          </a:p>
          <a:p>
            <a:pPr algn="l"/>
            <a:r>
              <a:rPr sz="1100">
                <a:solidFill>
                  <a:srgbClr val="E6E6FA"/>
                </a:solidFill>
                <a:latin typeface="Consolas"/>
              </a:rPr>
              <a:t>if (user-&gt;getRole() == RoleStudent) { ...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4754880"/>
            <a:ext cx="4206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A8A8C0"/>
                </a:solidFill>
                <a:latin typeface="Calibri"/>
              </a:rPr>
              <a:t>We hold a User*, but the right</a:t>
            </a:r>
          </a:p>
          <a:p>
            <a:pPr algn="l"/>
            <a:r>
              <a:rPr sz="1200" b="0" i="1">
                <a:solidFill>
                  <a:srgbClr val="A8A8C0"/>
                </a:solidFill>
                <a:latin typeface="Calibri"/>
              </a:rPr>
              <a:t>method runs for the real type.</a:t>
            </a:r>
          </a:p>
          <a:p>
            <a:pPr algn="l"/>
            <a:endParaRPr sz="1200" b="0" i="1">
              <a:solidFill>
                <a:srgbClr val="A8A8C0"/>
              </a:solidFill>
              <a:latin typeface="Calibri"/>
            </a:endParaRPr>
          </a:p>
          <a:p>
            <a:pPr algn="l"/>
            <a:r>
              <a:rPr sz="1200" b="0" i="1">
                <a:solidFill>
                  <a:srgbClr val="A8A8C0"/>
                </a:solidFill>
                <a:latin typeface="Calibri"/>
              </a:rPr>
              <a:t>That's the magic of `virtual`.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8A8C0"/>
                </a:solidFill>
                <a:latin typeface="Calibri"/>
              </a:rPr>
              <a:t>StudyTable  ·  C++ / Qt  ·  OOP Project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A8A8C0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5F5FA"/>
                </a:solidFill>
                <a:latin typeface="Calibri"/>
              </a:rPr>
              <a:t>🧊  Abstraction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A8A8C0"/>
                </a:solidFill>
                <a:latin typeface="Calibri"/>
              </a:rPr>
              <a:t>Decide WHAT a class can do, hide HOW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463040" cy="381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5577840" cy="4206240"/>
          </a:xfrm>
          <a:prstGeom prst="roundRect">
            <a:avLst>
              <a:gd name="adj" fmla="val 8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0D4FF"/>
                </a:solidFill>
                <a:latin typeface="Calibri"/>
              </a:rPr>
              <a:t>User is abstract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1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788920"/>
            <a:ext cx="46634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virtual UserRole getRole()     = 0;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virtual QString  getRoleName() = 0;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virtual User*    clone()       = 0;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206240"/>
            <a:ext cx="50292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A8A8C0"/>
                </a:solidFill>
                <a:latin typeface="Calibri"/>
              </a:rPr>
              <a:t>You cannot create a plain User.</a:t>
            </a:r>
          </a:p>
          <a:p>
            <a:pPr algn="l"/>
            <a:endParaRPr sz="1300" b="0" i="1">
              <a:solidFill>
                <a:srgbClr val="A8A8C0"/>
              </a:solidFill>
              <a:latin typeface="Calibri"/>
            </a:endParaRPr>
          </a:p>
          <a:p>
            <a:pPr algn="l"/>
            <a:r>
              <a:rPr sz="1300" b="0" i="1">
                <a:solidFill>
                  <a:srgbClr val="A8A8C0"/>
                </a:solidFill>
                <a:latin typeface="Calibri"/>
              </a:rPr>
              <a:t>You must be Admin, Teacher,</a:t>
            </a:r>
          </a:p>
          <a:p>
            <a:pPr algn="l"/>
            <a:r>
              <a:rPr sz="1300" b="0" i="1">
                <a:solidFill>
                  <a:srgbClr val="A8A8C0"/>
                </a:solidFill>
                <a:latin typeface="Calibri"/>
              </a:rPr>
              <a:t>or Student. The contract is fixed,</a:t>
            </a:r>
          </a:p>
          <a:p>
            <a:pPr algn="l"/>
            <a:r>
              <a:rPr sz="1300" b="0" i="1">
                <a:solidFill>
                  <a:srgbClr val="A8A8C0"/>
                </a:solidFill>
                <a:latin typeface="Calibri"/>
              </a:rPr>
              <a:t>but each role implements it differently.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920240"/>
            <a:ext cx="5577840" cy="4206240"/>
          </a:xfrm>
          <a:prstGeom prst="roundRect">
            <a:avLst>
              <a:gd name="adj" fmla="val 8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210312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0D4FF"/>
                </a:solidFill>
                <a:latin typeface="Calibri"/>
              </a:rPr>
              <a:t>FileManager is a black box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1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12280" y="2788920"/>
            <a:ext cx="46634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fm-&gt;addCourse("Math", teacherId);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fm-&gt;setGrade(enrollmentId, 95);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fm-&gt;getAverageGradeForStudent(id);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206240"/>
            <a:ext cx="50292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A8A8C0"/>
                </a:solidFill>
                <a:latin typeface="Calibri"/>
              </a:rPr>
              <a:t>The UI doesn't care that data lives</a:t>
            </a:r>
          </a:p>
          <a:p>
            <a:pPr algn="l"/>
            <a:r>
              <a:rPr sz="1300" b="0" i="1">
                <a:solidFill>
                  <a:srgbClr val="A8A8C0"/>
                </a:solidFill>
                <a:latin typeface="Calibri"/>
              </a:rPr>
              <a:t>in .txt files.</a:t>
            </a:r>
          </a:p>
          <a:p>
            <a:pPr algn="l"/>
            <a:endParaRPr sz="1300" b="0" i="1">
              <a:solidFill>
                <a:srgbClr val="A8A8C0"/>
              </a:solidFill>
              <a:latin typeface="Calibri"/>
            </a:endParaRPr>
          </a:p>
          <a:p>
            <a:pPr algn="l"/>
            <a:r>
              <a:rPr sz="1300" b="0" i="1">
                <a:solidFill>
                  <a:srgbClr val="A8A8C0"/>
                </a:solidFill>
                <a:latin typeface="Calibri"/>
              </a:rPr>
              <a:t>Tomorrow we could switch to SQL</a:t>
            </a:r>
          </a:p>
          <a:p>
            <a:pPr algn="l"/>
            <a:r>
              <a:rPr sz="1300" b="0" i="1">
                <a:solidFill>
                  <a:srgbClr val="A8A8C0"/>
                </a:solidFill>
                <a:latin typeface="Calibri"/>
              </a:rPr>
              <a:t>and the UI wouldn't change.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8A8C0"/>
                </a:solidFill>
                <a:latin typeface="Calibri"/>
              </a:rPr>
              <a:t>StudyTable  ·  C++ / Qt  ·  OOP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A8A8C0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5F5FA"/>
                </a:solidFill>
                <a:latin typeface="Calibri"/>
              </a:rPr>
              <a:t>Our data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A8A8C0"/>
                </a:solidFill>
                <a:latin typeface="Calibri"/>
              </a:rPr>
              <a:t>Four classes, four files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463040" cy="381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  <a:latin typeface="Calibri"/>
              </a:rPr>
              <a:t>Class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01168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  <a:latin typeface="Calibri"/>
              </a:rPr>
              <a:t>What it stores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011680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  <a:latin typeface="Calibri"/>
              </a:rPr>
              <a:t>File on disk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23160"/>
            <a:ext cx="11064240" cy="19050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606040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"/>
              </a:rPr>
              <a:t>User  (Admin / Teacher / Student)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606040"/>
            <a:ext cx="4023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5F5FA"/>
                </a:solidFill>
                <a:latin typeface="Calibri"/>
              </a:rPr>
              <a:t>id, login, password, name, 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2606040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5F5FA"/>
                </a:solidFill>
                <a:latin typeface="Calibri"/>
              </a:rPr>
              <a:t>users.txt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108960"/>
            <a:ext cx="11064240" cy="9525"/>
          </a:xfrm>
          <a:prstGeom prst="rect">
            <a:avLst/>
          </a:prstGeom>
          <a:solidFill>
            <a:srgbClr val="14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3246120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"/>
              </a:rPr>
              <a:t>Course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246120"/>
            <a:ext cx="4023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5F5FA"/>
                </a:solidFill>
                <a:latin typeface="Calibri"/>
              </a:rPr>
              <a:t>id, title, teacherId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3246120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5F5FA"/>
                </a:solidFill>
                <a:latin typeface="Calibri"/>
              </a:rPr>
              <a:t>courses.txt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49040"/>
            <a:ext cx="11064240" cy="9525"/>
          </a:xfrm>
          <a:prstGeom prst="rect">
            <a:avLst/>
          </a:prstGeom>
          <a:solidFill>
            <a:srgbClr val="14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3886200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"/>
              </a:rPr>
              <a:t>Enrollment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3886200"/>
            <a:ext cx="4023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5F5FA"/>
                </a:solidFill>
                <a:latin typeface="Calibri"/>
              </a:rPr>
              <a:t>id, studentId, courseId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3886200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5F5FA"/>
                </a:solidFill>
                <a:latin typeface="Calibri"/>
              </a:rPr>
              <a:t>enrollments.txt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89120"/>
            <a:ext cx="11064240" cy="9525"/>
          </a:xfrm>
          <a:prstGeom prst="rect">
            <a:avLst/>
          </a:prstGeom>
          <a:solidFill>
            <a:srgbClr val="14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4526280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"/>
              </a:rPr>
              <a:t>Grade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4526280"/>
            <a:ext cx="4023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5F5FA"/>
                </a:solidFill>
                <a:latin typeface="Calibri"/>
              </a:rPr>
              <a:t>id, enrollmentId, value (0–100)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4526280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5F5FA"/>
                </a:solidFill>
                <a:latin typeface="Calibri"/>
              </a:rPr>
              <a:t>grades.txt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029200"/>
            <a:ext cx="11064240" cy="9525"/>
          </a:xfrm>
          <a:prstGeom prst="rect">
            <a:avLst/>
          </a:prstGeom>
          <a:solidFill>
            <a:srgbClr val="14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53492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A8A8C0"/>
                </a:solidFill>
                <a:latin typeface="Calibri"/>
              </a:rPr>
              <a:t>Each line uses simple semicolon-separated format, for example: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9159" y="5672843"/>
            <a:ext cx="11064240" cy="1097280"/>
          </a:xfrm>
          <a:prstGeom prst="roundRect">
            <a:avLst>
              <a:gd name="adj" fmla="val 6000"/>
            </a:avLst>
          </a:prstGeom>
          <a:solidFill>
            <a:srgbClr val="1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31520" y="594360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1;admin;admin123;Administrator;admin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2;jane;qwerty;Jane Smith;teacher</a:t>
            </a:r>
          </a:p>
          <a:p>
            <a:pPr algn="l"/>
            <a:r>
              <a:rPr sz="1300">
                <a:solidFill>
                  <a:srgbClr val="E6E6FA"/>
                </a:solidFill>
                <a:latin typeface="Consolas"/>
              </a:rPr>
              <a:t>3;leo;1234;Leo Brown;student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8A8C0"/>
                </a:solidFill>
                <a:latin typeface="Calibri"/>
              </a:rPr>
              <a:t>StudyTable  ·  C++ / Qt  ·  OOP Project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A8A8C0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5F5FA"/>
                </a:solidFill>
                <a:latin typeface="Calibri"/>
              </a:rPr>
              <a:t>FileManager — the heart of the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A8A8C0"/>
                </a:solidFill>
                <a:latin typeface="Calibri"/>
              </a:rPr>
              <a:t>One class. All data. All rules.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463040" cy="381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5029200" cy="4206240"/>
          </a:xfrm>
          <a:prstGeom prst="roundRect">
            <a:avLst>
              <a:gd name="adj" fmla="val 8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0D4FF"/>
                </a:solidFill>
                <a:latin typeface="Calibri"/>
              </a:rPr>
              <a:t>What it 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97480"/>
            <a:ext cx="4480560" cy="3246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F5F5FA"/>
                </a:solidFill>
                <a:latin typeface="Calibri"/>
              </a:rPr>
              <a:t>→  Loads everything from .txt on start.</a:t>
            </a:r>
          </a:p>
          <a:p>
            <a:pPr algn="l"/>
            <a:endParaRPr sz="1300" b="0" i="0">
              <a:solidFill>
                <a:srgbClr val="F5F5FA"/>
              </a:solidFill>
              <a:latin typeface="Calibri"/>
            </a:endParaRPr>
          </a:p>
          <a:p>
            <a:pPr algn="l"/>
            <a:r>
              <a:rPr sz="1300" b="0" i="0">
                <a:solidFill>
                  <a:srgbClr val="F5F5FA"/>
                </a:solidFill>
                <a:latin typeface="Calibri"/>
              </a:rPr>
              <a:t>→  Keeps users / courses /</a:t>
            </a:r>
          </a:p>
          <a:p>
            <a:pPr algn="l"/>
            <a:r>
              <a:rPr sz="1300" b="0" i="0">
                <a:solidFill>
                  <a:srgbClr val="F5F5FA"/>
                </a:solidFill>
                <a:latin typeface="Calibri"/>
              </a:rPr>
              <a:t>     enrollments / grades in memory.</a:t>
            </a:r>
          </a:p>
          <a:p>
            <a:pPr algn="l"/>
            <a:endParaRPr sz="1300" b="0" i="0">
              <a:solidFill>
                <a:srgbClr val="F5F5FA"/>
              </a:solidFill>
              <a:latin typeface="Calibri"/>
            </a:endParaRPr>
          </a:p>
          <a:p>
            <a:pPr algn="l"/>
            <a:r>
              <a:rPr sz="1300" b="0" i="0">
                <a:solidFill>
                  <a:srgbClr val="F5F5FA"/>
                </a:solidFill>
                <a:latin typeface="Calibri"/>
              </a:rPr>
              <a:t>→  Saves to disk after every change.</a:t>
            </a:r>
          </a:p>
          <a:p>
            <a:pPr algn="l"/>
            <a:endParaRPr sz="1300" b="0" i="0">
              <a:solidFill>
                <a:srgbClr val="F5F5FA"/>
              </a:solidFill>
              <a:latin typeface="Calibri"/>
            </a:endParaRPr>
          </a:p>
          <a:p>
            <a:pPr algn="l"/>
            <a:r>
              <a:rPr sz="1300" b="0" i="0">
                <a:solidFill>
                  <a:srgbClr val="F5F5FA"/>
                </a:solidFill>
                <a:latin typeface="Calibri"/>
              </a:rPr>
              <a:t>→  Knows the business rules:</a:t>
            </a:r>
          </a:p>
          <a:p>
            <a:pPr algn="l"/>
            <a:r>
              <a:rPr sz="1300" b="0" i="0">
                <a:solidFill>
                  <a:srgbClr val="F5F5FA"/>
                </a:solidFill>
                <a:latin typeface="Calibri"/>
              </a:rPr>
              <a:t>     • no duplicate logins</a:t>
            </a:r>
          </a:p>
          <a:p>
            <a:pPr algn="l"/>
            <a:r>
              <a:rPr sz="1300" b="0" i="0">
                <a:solidFill>
                  <a:srgbClr val="F5F5FA"/>
                </a:solidFill>
                <a:latin typeface="Calibri"/>
              </a:rPr>
              <a:t>     • grades 0–100</a:t>
            </a:r>
          </a:p>
          <a:p>
            <a:pPr algn="l"/>
            <a:r>
              <a:rPr sz="1300" b="0" i="0">
                <a:solidFill>
                  <a:srgbClr val="F5F5FA"/>
                </a:solidFill>
                <a:latin typeface="Calibri"/>
              </a:rPr>
              <a:t>     • only the course's teacher can grade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1920240"/>
            <a:ext cx="6126480" cy="4206240"/>
          </a:xfrm>
          <a:prstGeom prst="roundRect">
            <a:avLst>
              <a:gd name="adj" fmla="val 6000"/>
            </a:avLst>
          </a:prstGeom>
          <a:solidFill>
            <a:srgbClr val="1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89320" y="2057400"/>
            <a:ext cx="57607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class FileManager {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public: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    bool loadAll();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    bool saveAll();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    User* login(QString login, QString password);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    bool  registerUser(QString name, QString login,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                       QString pass, QString role);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    bool  addCourse(QString title, int teacherId);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    bool  addEnrollment(int studentId, int courseId);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    bool  setGrade(int enrollmentId, int value);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    double getAverageGradeForStudent(int studentId);</a:t>
            </a:r>
          </a:p>
          <a:p>
            <a:pPr algn="l"/>
            <a:r>
              <a:rPr sz="1200">
                <a:solidFill>
                  <a:srgbClr val="E6E6FA"/>
                </a:solidFill>
                <a:latin typeface="Consolas"/>
              </a:rPr>
              <a:t>};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8A8C0"/>
                </a:solidFill>
                <a:latin typeface="Calibri"/>
              </a:rPr>
              <a:t>StudyTable  ·  C++ / Qt  ·  OOP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A8A8C0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5F5FA"/>
                </a:solidFill>
                <a:latin typeface="Calibri"/>
              </a:rPr>
              <a:t>Nice little patterns inside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A8A8C0"/>
                </a:solidFill>
                <a:latin typeface="Calibri"/>
              </a:rPr>
              <a:t>Small things we are proud of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463040" cy="381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5577840" cy="2331720"/>
          </a:xfrm>
          <a:prstGeom prst="roundRect">
            <a:avLst>
              <a:gd name="adj" fmla="val 8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Auto-generated IDs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514600"/>
            <a:ext cx="3200400" cy="1554480"/>
          </a:xfrm>
          <a:prstGeom prst="roundRect">
            <a:avLst>
              <a:gd name="adj" fmla="val 6000"/>
            </a:avLst>
          </a:prstGeom>
          <a:solidFill>
            <a:srgbClr val="1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651760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E6E6FA"/>
                </a:solidFill>
                <a:latin typeface="Consolas"/>
              </a:rPr>
              <a:t>static int s_nextId;</a:t>
            </a:r>
          </a:p>
          <a:p>
            <a:pPr algn="l"/>
            <a:r>
              <a:rPr sz="1000">
                <a:solidFill>
                  <a:srgbClr val="E6E6FA"/>
                </a:solidFill>
                <a:latin typeface="Consolas"/>
              </a:rPr>
              <a:t> </a:t>
            </a:r>
          </a:p>
          <a:p>
            <a:pPr algn="l"/>
            <a:r>
              <a:rPr sz="1000">
                <a:solidFill>
                  <a:srgbClr val="E6E6FA"/>
                </a:solidFill>
                <a:latin typeface="Consolas"/>
              </a:rPr>
              <a:t>int User::generateNextId() {</a:t>
            </a:r>
          </a:p>
          <a:p>
            <a:pPr algn="l"/>
            <a:r>
              <a:rPr sz="1000">
                <a:solidFill>
                  <a:srgbClr val="E6E6FA"/>
                </a:solidFill>
                <a:latin typeface="Consolas"/>
              </a:rPr>
              <a:t>    int value = s_nextId;</a:t>
            </a:r>
          </a:p>
          <a:p>
            <a:pPr algn="l"/>
            <a:r>
              <a:rPr sz="1000">
                <a:solidFill>
                  <a:srgbClr val="E6E6FA"/>
                </a:solidFill>
                <a:latin typeface="Consolas"/>
              </a:rPr>
              <a:t>    s_nextId++;</a:t>
            </a:r>
          </a:p>
          <a:p>
            <a:pPr algn="l"/>
            <a:r>
              <a:rPr sz="1000">
                <a:solidFill>
                  <a:srgbClr val="E6E6FA"/>
                </a:solidFill>
                <a:latin typeface="Consolas"/>
              </a:rPr>
              <a:t>    return value;</a:t>
            </a:r>
          </a:p>
          <a:p>
            <a:pPr algn="l"/>
            <a:r>
              <a:rPr sz="1000">
                <a:solidFill>
                  <a:srgbClr val="E6E6FA"/>
                </a:solidFill>
                <a:latin typeface="Consolas"/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560320"/>
            <a:ext cx="1828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A8A8C0"/>
                </a:solidFill>
                <a:latin typeface="Calibri"/>
              </a:rPr>
              <a:t>A static counter shared</a:t>
            </a:r>
          </a:p>
          <a:p>
            <a:pPr algn="l"/>
            <a:r>
              <a:rPr sz="1100" b="0" i="1">
                <a:solidFill>
                  <a:srgbClr val="A8A8C0"/>
                </a:solidFill>
                <a:latin typeface="Calibri"/>
              </a:rPr>
              <a:t>by all users.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920240"/>
            <a:ext cx="5577840" cy="2331720"/>
          </a:xfrm>
          <a:prstGeom prst="roundRect">
            <a:avLst>
              <a:gd name="adj" fmla="val 8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0" y="205740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Default admin on first run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0" y="2514600"/>
            <a:ext cx="3200400" cy="1554480"/>
          </a:xfrm>
          <a:prstGeom prst="roundRect">
            <a:avLst>
              <a:gd name="adj" fmla="val 6000"/>
            </a:avLst>
          </a:prstGeom>
          <a:solidFill>
            <a:srgbClr val="1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66560" y="2651760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E6E6FA"/>
                </a:solidFill>
                <a:latin typeface="Consolas"/>
              </a:rPr>
              <a:t>usersFile &lt;&lt; "1;admin;admin123;"</a:t>
            </a:r>
          </a:p>
          <a:p>
            <a:pPr algn="l"/>
            <a:r>
              <a:rPr sz="1000">
                <a:solidFill>
                  <a:srgbClr val="E6E6FA"/>
                </a:solidFill>
                <a:latin typeface="Consolas"/>
              </a:rPr>
              <a:t>             "Administrator;admin\n";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2560320"/>
            <a:ext cx="1828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A8A8C0"/>
                </a:solidFill>
                <a:latin typeface="Calibri"/>
              </a:rPr>
              <a:t>First launch is never empty —</a:t>
            </a:r>
          </a:p>
          <a:p>
            <a:pPr algn="l"/>
            <a:r>
              <a:rPr sz="1100" b="0" i="1">
                <a:solidFill>
                  <a:srgbClr val="A8A8C0"/>
                </a:solidFill>
                <a:latin typeface="Calibri"/>
              </a:rPr>
              <a:t>you can always log in.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434840"/>
            <a:ext cx="5577840" cy="2331720"/>
          </a:xfrm>
          <a:prstGeom prst="roundRect">
            <a:avLst>
              <a:gd name="adj" fmla="val 8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457200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Manual file parsing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029200"/>
            <a:ext cx="3200400" cy="1554480"/>
          </a:xfrm>
          <a:prstGeom prst="roundRect">
            <a:avLst>
              <a:gd name="adj" fmla="val 6000"/>
            </a:avLst>
          </a:prstGeom>
          <a:solidFill>
            <a:srgbClr val="1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0120" y="5166360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E6E6FA"/>
                </a:solidFill>
                <a:latin typeface="Consolas"/>
              </a:rPr>
              <a:t>splitSemicolon(line, parts, 5);</a:t>
            </a:r>
          </a:p>
          <a:p>
            <a:pPr algn="l"/>
            <a:r>
              <a:rPr sz="1000">
                <a:solidFill>
                  <a:srgbClr val="E6E6FA"/>
                </a:solidFill>
                <a:latin typeface="Consolas"/>
              </a:rPr>
              <a:t>stringToInt(parts[0]);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60520" y="5074920"/>
            <a:ext cx="1828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A8A8C0"/>
                </a:solidFill>
                <a:latin typeface="Calibri"/>
              </a:rPr>
              <a:t>Pure C++ — no external libs.</a:t>
            </a:r>
          </a:p>
          <a:p>
            <a:pPr algn="l"/>
            <a:r>
              <a:rPr sz="1100" b="0" i="1">
                <a:solidFill>
                  <a:srgbClr val="A8A8C0"/>
                </a:solidFill>
                <a:latin typeface="Calibri"/>
              </a:rPr>
              <a:t>We own the parser.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4434840"/>
            <a:ext cx="5577840" cy="2331720"/>
          </a:xfrm>
          <a:prstGeom prst="roundRect">
            <a:avLst>
              <a:gd name="adj" fmla="val 8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83680" y="457200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Rule of three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5029200"/>
            <a:ext cx="3200400" cy="1554480"/>
          </a:xfrm>
          <a:prstGeom prst="roundRect">
            <a:avLst>
              <a:gd name="adj" fmla="val 6000"/>
            </a:avLst>
          </a:prstGeom>
          <a:solidFill>
            <a:srgbClr val="1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766560" y="5166360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>
                <a:solidFill>
                  <a:srgbClr val="E6E6FA"/>
                </a:solidFill>
                <a:latin typeface="Consolas"/>
              </a:rPr>
              <a:t>User(const User&amp; other);</a:t>
            </a:r>
          </a:p>
          <a:p>
            <a:pPr algn="l"/>
            <a:r>
              <a:rPr sz="1000">
                <a:solidFill>
                  <a:srgbClr val="E6E6FA"/>
                </a:solidFill>
                <a:latin typeface="Consolas"/>
              </a:rPr>
              <a:t>User&amp; operator=(const User&amp; other);</a:t>
            </a:r>
          </a:p>
          <a:p>
            <a:pPr algn="l"/>
            <a:r>
              <a:rPr sz="1000">
                <a:solidFill>
                  <a:srgbClr val="E6E6FA"/>
                </a:solidFill>
                <a:latin typeface="Consolas"/>
              </a:rPr>
              <a:t>virtual ~User();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5074920"/>
            <a:ext cx="1828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A8A8C0"/>
                </a:solidFill>
                <a:latin typeface="Calibri"/>
              </a:rPr>
              <a:t>Safe with pointers in</a:t>
            </a:r>
          </a:p>
          <a:p>
            <a:pPr algn="l"/>
            <a:r>
              <a:rPr sz="1100" b="0" i="1">
                <a:solidFill>
                  <a:srgbClr val="A8A8C0"/>
                </a:solidFill>
                <a:latin typeface="Calibri"/>
              </a:rPr>
              <a:t>vector&lt;User*&gt;.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8A8C0"/>
                </a:solidFill>
                <a:latin typeface="Calibri"/>
              </a:rPr>
              <a:t>StudyTable  ·  C++ / Qt  ·  OOP Project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A8A8C0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5F5FA"/>
                </a:solidFill>
                <a:latin typeface="Calibri"/>
              </a:rPr>
              <a:t>The UI — four windows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A8A8C0"/>
                </a:solidFill>
                <a:latin typeface="Calibri"/>
              </a:rPr>
              <a:t>Each role gets its own screen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463040" cy="381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5577840" cy="2057400"/>
          </a:xfrm>
          <a:prstGeom prst="roundRect">
            <a:avLst>
              <a:gd name="adj" fmla="val 8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05740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  <a:latin typeface="Calibri"/>
              </a:rPr>
              <a:t>LoginWindow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5029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5F5FA"/>
                </a:solidFill>
                <a:latin typeface="Calibri"/>
              </a:rPr>
              <a:t>→  Enter login + password</a:t>
            </a:r>
          </a:p>
          <a:p>
            <a:pPr algn="l"/>
            <a:r>
              <a:rPr sz="1200" b="0" i="0">
                <a:solidFill>
                  <a:srgbClr val="F5F5FA"/>
                </a:solidFill>
                <a:latin typeface="Calibri"/>
              </a:rPr>
              <a:t>→  Open registration window</a:t>
            </a:r>
          </a:p>
          <a:p>
            <a:pPr algn="l"/>
            <a:r>
              <a:rPr sz="1200" b="0" i="0">
                <a:solidFill>
                  <a:srgbClr val="F5F5FA"/>
                </a:solidFill>
                <a:latin typeface="Calibri"/>
              </a:rPr>
              <a:t>→  Detects role and opens</a:t>
            </a:r>
          </a:p>
          <a:p>
            <a:pPr algn="l"/>
            <a:r>
              <a:rPr sz="1200" b="0" i="0">
                <a:solidFill>
                  <a:srgbClr val="F5F5FA"/>
                </a:solidFill>
                <a:latin typeface="Calibri"/>
              </a:rPr>
              <a:t>     the right window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920240"/>
            <a:ext cx="5577840" cy="2057400"/>
          </a:xfrm>
          <a:prstGeom prst="roundRect">
            <a:avLst>
              <a:gd name="adj" fmla="val 8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205740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  <a:latin typeface="Calibri"/>
              </a:rPr>
              <a:t>RegistrationWindow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560320"/>
            <a:ext cx="5029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5F5FA"/>
                </a:solidFill>
                <a:latin typeface="Calibri"/>
              </a:rPr>
              <a:t>→  Register as student or teacher</a:t>
            </a:r>
          </a:p>
          <a:p>
            <a:pPr algn="l"/>
            <a:r>
              <a:rPr sz="1200" b="0" i="0">
                <a:solidFill>
                  <a:srgbClr val="F5F5FA"/>
                </a:solidFill>
                <a:latin typeface="Calibri"/>
              </a:rPr>
              <a:t>→  Password confirmation</a:t>
            </a:r>
          </a:p>
          <a:p>
            <a:pPr algn="l"/>
            <a:r>
              <a:rPr sz="1200" b="0" i="0">
                <a:solidFill>
                  <a:srgbClr val="F5F5FA"/>
                </a:solidFill>
                <a:latin typeface="Calibri"/>
              </a:rPr>
              <a:t>→  Validates empty fields and</a:t>
            </a:r>
          </a:p>
          <a:p>
            <a:pPr algn="l"/>
            <a:r>
              <a:rPr sz="1200" b="0" i="0">
                <a:solidFill>
                  <a:srgbClr val="F5F5FA"/>
                </a:solidFill>
                <a:latin typeface="Calibri"/>
              </a:rPr>
              <a:t>     duplicate logins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60520"/>
            <a:ext cx="5577840" cy="2057400"/>
          </a:xfrm>
          <a:prstGeom prst="roundRect">
            <a:avLst>
              <a:gd name="adj" fmla="val 8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429768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  <a:latin typeface="Calibri"/>
              </a:rPr>
              <a:t>AdminWindow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800600"/>
            <a:ext cx="5029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5F5FA"/>
                </a:solidFill>
                <a:latin typeface="Calibri"/>
              </a:rPr>
              <a:t>→  See all users and courses</a:t>
            </a:r>
          </a:p>
          <a:p>
            <a:pPr algn="l"/>
            <a:r>
              <a:rPr sz="1200" b="0" i="0">
                <a:solidFill>
                  <a:srgbClr val="F5F5FA"/>
                </a:solidFill>
                <a:latin typeface="Calibri"/>
              </a:rPr>
              <a:t>→  Create new courses</a:t>
            </a:r>
          </a:p>
          <a:p>
            <a:pPr algn="l"/>
            <a:r>
              <a:rPr sz="1200" b="0" i="0">
                <a:solidFill>
                  <a:srgbClr val="F5F5FA"/>
                </a:solidFill>
                <a:latin typeface="Calibri"/>
              </a:rPr>
              <a:t>     (link to a teacher)</a:t>
            </a:r>
          </a:p>
          <a:p>
            <a:pPr algn="l"/>
            <a:r>
              <a:rPr sz="1200" b="0" i="0">
                <a:solidFill>
                  <a:srgbClr val="F5F5FA"/>
                </a:solidFill>
                <a:latin typeface="Calibri"/>
              </a:rPr>
              <a:t>→  Enroll students into courses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4160520"/>
            <a:ext cx="5577840" cy="2057400"/>
          </a:xfrm>
          <a:prstGeom prst="roundRect">
            <a:avLst>
              <a:gd name="adj" fmla="val 8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29400" y="429768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  <a:latin typeface="Calibri"/>
              </a:rPr>
              <a:t>Teacher  /  Student Window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800600"/>
            <a:ext cx="5029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5F5FA"/>
                </a:solidFill>
                <a:latin typeface="Calibri"/>
              </a:rPr>
              <a:t>→  Teacher: own courses, students,</a:t>
            </a:r>
          </a:p>
          <a:p>
            <a:pPr algn="l"/>
            <a:r>
              <a:rPr sz="1200" b="0" i="0">
                <a:solidFill>
                  <a:srgbClr val="F5F5FA"/>
                </a:solidFill>
                <a:latin typeface="Calibri"/>
              </a:rPr>
              <a:t>     set grades</a:t>
            </a:r>
          </a:p>
          <a:p>
            <a:pPr algn="l"/>
            <a:r>
              <a:rPr sz="1200" b="0" i="0">
                <a:solidFill>
                  <a:srgbClr val="F5F5FA"/>
                </a:solidFill>
                <a:latin typeface="Calibri"/>
              </a:rPr>
              <a:t>→  Student: own courses, grades,</a:t>
            </a:r>
          </a:p>
          <a:p>
            <a:pPr algn="l"/>
            <a:r>
              <a:rPr sz="1200" b="0" i="0">
                <a:solidFill>
                  <a:srgbClr val="F5F5FA"/>
                </a:solidFill>
                <a:latin typeface="Calibri"/>
              </a:rPr>
              <a:t>     average grade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A8A8C0"/>
                </a:solidFill>
                <a:latin typeface="Calibri"/>
              </a:rPr>
              <a:t>All UI files are .ui (Qt Designer) → Qt auto-generates the C++ for us.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5F5FA"/>
                </a:solidFill>
                <a:latin typeface="Calibri"/>
              </a:rPr>
              <a:t>Demo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A8A8C0"/>
                </a:solidFill>
                <a:latin typeface="Calibri"/>
              </a:rPr>
              <a:t>A 60-second story we can show live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463040" cy="381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08483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5F5FA"/>
                </a:solidFill>
                <a:latin typeface="Calibri"/>
              </a:rPr>
              <a:t>Open app → first run creates default admin / admin123.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578608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57860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65176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5F5FA"/>
                </a:solidFill>
                <a:latin typeface="Calibri"/>
              </a:rPr>
              <a:t>Log in as admin → see users + courses, all empty.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45536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3145536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218688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5F5FA"/>
                </a:solidFill>
                <a:latin typeface="Calibri"/>
              </a:rPr>
              <a:t>Log out → register Jane (teacher) and Leo (student).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12464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3712464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785616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5F5FA"/>
                </a:solidFill>
                <a:latin typeface="Calibri"/>
              </a:rPr>
              <a:t>Log back in as admin → add course "Intro to OOP" with Jane's ID, enroll Leo.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279392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279392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352544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5F5FA"/>
                </a:solidFill>
                <a:latin typeface="Calibri"/>
              </a:rPr>
              <a:t>Log in as Jane → see the course + Leo, give him grade 95.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84632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484632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9194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5F5FA"/>
                </a:solidFill>
                <a:latin typeface="Calibri"/>
              </a:rPr>
              <a:t>Log in as Leo → see "Intro to OOP — grade 95, average 95.00".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413248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8640" y="5413248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48640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F5F5FA"/>
                </a:solidFill>
                <a:latin typeface="Calibri"/>
              </a:rPr>
              <a:t>Close the app, open it again → everything is still there.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8A8C0"/>
                </a:solidFill>
                <a:latin typeface="Calibri"/>
              </a:rPr>
              <a:t>StudyTable  ·  C++ / Qt  ·  OOP Project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A8A8C0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5F5FA"/>
                </a:solidFill>
                <a:latin typeface="Calibri"/>
              </a:rPr>
              <a:t>Challenges &amp; what we learned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1463040" cy="381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5577840" cy="4206240"/>
          </a:xfrm>
          <a:prstGeom prst="roundRect">
            <a:avLst>
              <a:gd name="adj" fmla="val 8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D166"/>
                </a:solidFill>
                <a:latin typeface="Calibri"/>
              </a:rPr>
              <a:t>🧩  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502920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D166"/>
                </a:solidFill>
                <a:latin typeface="Calibri"/>
              </a:rPr>
              <a:t>→  </a:t>
            </a:r>
            <a:r>
              <a:rPr sz="1400">
                <a:solidFill>
                  <a:srgbClr val="F5F5FA"/>
                </a:solidFill>
                <a:latin typeface="Calibri"/>
              </a:rPr>
              <a:t>Managing vector&lt;User*&gt; without leaks.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FFD166"/>
                </a:solidFill>
                <a:latin typeface="Calibri"/>
              </a:rPr>
              <a:t>→  </a:t>
            </a:r>
            <a:r>
              <a:rPr sz="1400">
                <a:solidFill>
                  <a:srgbClr val="F5F5FA"/>
                </a:solidFill>
                <a:latin typeface="Calibri"/>
              </a:rPr>
              <a:t>Parsing text files by hand, line by line.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FFD166"/>
                </a:solidFill>
                <a:latin typeface="Calibri"/>
              </a:rPr>
              <a:t>→  </a:t>
            </a:r>
            <a:r>
              <a:rPr sz="1400">
                <a:solidFill>
                  <a:srgbClr val="F5F5FA"/>
                </a:solidFill>
                <a:latin typeface="Calibri"/>
              </a:rPr>
              <a:t>Wiring 4 windows together with Qt signals &amp; slots.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FFD166"/>
                </a:solidFill>
                <a:latin typeface="Calibri"/>
              </a:rPr>
              <a:t>→  </a:t>
            </a:r>
            <a:r>
              <a:rPr sz="1400">
                <a:solidFill>
                  <a:srgbClr val="F5F5FA"/>
                </a:solidFill>
                <a:latin typeface="Calibri"/>
              </a:rPr>
              <a:t>Keeping IDs unique across runs.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920240"/>
            <a:ext cx="5577840" cy="4206240"/>
          </a:xfrm>
          <a:prstGeom prst="roundRect">
            <a:avLst>
              <a:gd name="adj" fmla="val 8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29400" y="210312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6EE7B7"/>
                </a:solidFill>
                <a:latin typeface="Calibri"/>
              </a:rPr>
              <a:t>💡  Lessons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697480"/>
            <a:ext cx="502920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EE7B7"/>
                </a:solidFill>
                <a:latin typeface="Calibri"/>
              </a:rPr>
              <a:t>→  </a:t>
            </a:r>
            <a:r>
              <a:rPr sz="1400">
                <a:solidFill>
                  <a:srgbClr val="F5F5FA"/>
                </a:solidFill>
                <a:latin typeface="Calibri"/>
              </a:rPr>
              <a:t>OOP really helps: one base class kills duplicate code.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6EE7B7"/>
                </a:solidFill>
                <a:latin typeface="Calibri"/>
              </a:rPr>
              <a:t>→  </a:t>
            </a:r>
            <a:r>
              <a:rPr sz="1400">
                <a:solidFill>
                  <a:srgbClr val="F5F5FA"/>
                </a:solidFill>
                <a:latin typeface="Calibri"/>
              </a:rPr>
              <a:t>A single data manager class makes the UI tiny.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6EE7B7"/>
                </a:solidFill>
                <a:latin typeface="Calibri"/>
              </a:rPr>
              <a:t>→  </a:t>
            </a:r>
            <a:r>
              <a:rPr sz="1400">
                <a:solidFill>
                  <a:srgbClr val="F5F5FA"/>
                </a:solidFill>
                <a:latin typeface="Calibri"/>
              </a:rPr>
              <a:t>Virtual methods + pointers = clean role-based logic.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6EE7B7"/>
                </a:solidFill>
                <a:latin typeface="Calibri"/>
              </a:rPr>
              <a:t>→  </a:t>
            </a:r>
            <a:r>
              <a:rPr sz="1400">
                <a:solidFill>
                  <a:srgbClr val="F5F5FA"/>
                </a:solidFill>
                <a:latin typeface="Calibri"/>
              </a:rPr>
              <a:t>Save early, save often, save automatically.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8A8C0"/>
                </a:solidFill>
                <a:latin typeface="Calibri"/>
              </a:rPr>
              <a:t>StudyTable  ·  C++ / Qt  ·  OOP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A8A8C0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F5F5FA"/>
                </a:solidFill>
                <a:latin typeface="Calibri"/>
              </a:rPr>
              <a:t>What could come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A8A8C0"/>
                </a:solidFill>
                <a:latin typeface="Calibri"/>
              </a:rPr>
              <a:t>Future improvements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463040" cy="381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72287" y="2103120"/>
            <a:ext cx="3657600" cy="1874519"/>
          </a:xfrm>
          <a:prstGeom prst="roundRect">
            <a:avLst>
              <a:gd name="adj" fmla="val 10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2287" y="2286000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200" b="0" i="0">
                <a:solidFill>
                  <a:srgbClr val="F5F5FA"/>
                </a:solidFill>
                <a:latin typeface="Calibri"/>
              </a:rPr>
              <a:t>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607" y="3154680"/>
            <a:ext cx="3108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>
                <a:solidFill>
                  <a:srgbClr val="F5F5FA"/>
                </a:solidFill>
                <a:latin typeface="Calibri"/>
              </a:rPr>
              <a:t>Hashed passwords instead of plain text.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7047" y="2103120"/>
            <a:ext cx="3657600" cy="1874519"/>
          </a:xfrm>
          <a:prstGeom prst="roundRect">
            <a:avLst>
              <a:gd name="adj" fmla="val 10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67047" y="2286000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200" b="0" i="0">
                <a:solidFill>
                  <a:srgbClr val="F5F5FA"/>
                </a:solidFill>
                <a:latin typeface="Calibri"/>
              </a:rPr>
              <a:t>🗄️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1367" y="3154680"/>
            <a:ext cx="3108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>
                <a:solidFill>
                  <a:srgbClr val="F5F5FA"/>
                </a:solidFill>
                <a:latin typeface="Calibri"/>
              </a:rPr>
              <a:t>Swap .txt for SQLite — same FileManager interface.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1807" y="2103120"/>
            <a:ext cx="3657600" cy="1874519"/>
          </a:xfrm>
          <a:prstGeom prst="roundRect">
            <a:avLst>
              <a:gd name="adj" fmla="val 10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61807" y="2286000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200" b="0" i="0">
                <a:solidFill>
                  <a:srgbClr val="F5F5FA"/>
                </a:solidFill>
                <a:latin typeface="Calibri"/>
              </a:rPr>
              <a:t>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6127" y="3154680"/>
            <a:ext cx="3108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>
                <a:solidFill>
                  <a:srgbClr val="F5F5FA"/>
                </a:solidFill>
                <a:latin typeface="Calibri"/>
              </a:rPr>
              <a:t>Charts for grade history and class averages.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2287" y="4114799"/>
            <a:ext cx="3657600" cy="1874519"/>
          </a:xfrm>
          <a:prstGeom prst="roundRect">
            <a:avLst>
              <a:gd name="adj" fmla="val 10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2287" y="4297679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200" b="0" i="0">
                <a:solidFill>
                  <a:srgbClr val="F5F5FA"/>
                </a:solidFill>
                <a:latin typeface="Calibri"/>
              </a:rPr>
              <a:t>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6607" y="5166359"/>
            <a:ext cx="3108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>
                <a:solidFill>
                  <a:srgbClr val="F5F5FA"/>
                </a:solidFill>
                <a:latin typeface="Calibri"/>
              </a:rPr>
              <a:t>Multi-language UI with Qt translations.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67047" y="4114799"/>
            <a:ext cx="3657600" cy="1874519"/>
          </a:xfrm>
          <a:prstGeom prst="roundRect">
            <a:avLst>
              <a:gd name="adj" fmla="val 10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267047" y="4297679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200" b="0" i="0">
                <a:solidFill>
                  <a:srgbClr val="F5F5FA"/>
                </a:solidFill>
                <a:latin typeface="Calibri"/>
              </a:rPr>
              <a:t>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1367" y="5166359"/>
            <a:ext cx="3108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>
                <a:solidFill>
                  <a:srgbClr val="F5F5FA"/>
                </a:solidFill>
                <a:latin typeface="Calibri"/>
              </a:rPr>
              <a:t>Course schedules and deadlines.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1807" y="4114799"/>
            <a:ext cx="3657600" cy="1874519"/>
          </a:xfrm>
          <a:prstGeom prst="roundRect">
            <a:avLst>
              <a:gd name="adj" fmla="val 10000"/>
            </a:avLst>
          </a:prstGeom>
          <a:solidFill>
            <a:srgbClr val="1B1B38"/>
          </a:solidFill>
          <a:ln w="1270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61807" y="4297679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200" b="0" i="0">
                <a:solidFill>
                  <a:srgbClr val="F5F5FA"/>
                </a:solidFill>
                <a:latin typeface="Calibri"/>
              </a:rPr>
              <a:t>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6127" y="5166359"/>
            <a:ext cx="3108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>
                <a:solidFill>
                  <a:srgbClr val="F5F5FA"/>
                </a:solidFill>
                <a:latin typeface="Calibri"/>
              </a:rPr>
              <a:t>Unit tests for FileManager logic.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8A8C0"/>
                </a:solidFill>
                <a:latin typeface="Calibri"/>
              </a:rPr>
              <a:t>StudyTable  ·  C++ / Qt  ·  OOP Project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A8A8C0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7C5C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4572000" cy="4572000"/>
          </a:xfrm>
          <a:prstGeom prst="ellipse">
            <a:avLst/>
          </a:prstGeom>
          <a:solidFill>
            <a:srgbClr val="00D4FF">
              <a:alpha val="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5486400" y="-1371600"/>
            <a:ext cx="3657600" cy="3657600"/>
          </a:xfrm>
          <a:prstGeom prst="ellipse">
            <a:avLst/>
          </a:prstGeom>
          <a:solidFill>
            <a:srgbClr val="FF6EC7">
              <a:alpha val="7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394960" y="182880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81170" y="1928491"/>
            <a:ext cx="1056379" cy="184666"/>
          </a:xfrm>
          <a:prstGeom prst="rect">
            <a:avLst/>
          </a:prstGeom>
          <a:noFill/>
        </p:spPr>
        <p:txBody>
          <a:bodyPr wrap="square" lIns="228600" tIns="0" rIns="228600" bIns="0" anchor="ctr">
            <a:spAutoFit/>
          </a:bodyPr>
          <a:lstStyle/>
          <a:p>
            <a:pPr algn="ctr"/>
            <a:r>
              <a:rPr lang="ru-RU" sz="1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b="1">
                <a:solidFill>
                  <a:srgbClr val="FFFFFF"/>
                </a:solidFill>
                <a:latin typeface="Calibri"/>
              </a:rPr>
              <a:t>THE 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60320"/>
            <a:ext cx="111556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800" b="1" i="0">
                <a:solidFill>
                  <a:srgbClr val="F5F5FA"/>
                </a:solidFill>
                <a:latin typeface="Calibri"/>
              </a:rPr>
              <a:t>Thank you!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06240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0" i="1">
                <a:solidFill>
                  <a:srgbClr val="A8A8C0"/>
                </a:solidFill>
                <a:latin typeface="Calibri"/>
              </a:rPr>
              <a:t>Questions are very welcome.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86400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00D4FF"/>
                </a:solidFill>
                <a:latin typeface="Calibri"/>
              </a:rPr>
              <a:t>StudyTable  ·  C++  ·  Qt  ·  OOP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Широкоэкранный</PresentationFormat>
  <Paragraphs>0</Paragraphs>
  <Slides>18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19" baseType="lpstr"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64</cp:revision>
  <dcterms:created xsi:type="dcterms:W3CDTF">2013-01-27T09:14:16Z</dcterms:created>
  <dcterms:modified xsi:type="dcterms:W3CDTF">2026-05-24T20:53:43Z</dcterms:modified>
  <cp:category/>
</cp:coreProperties>
</file>