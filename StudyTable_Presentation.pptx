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5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0D4FF">
              <a:alpha val="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0" y="-1371600"/>
            <a:ext cx="3657600" cy="3657600"/>
          </a:xfrm>
          <a:prstGeom prst="ellipse">
            <a:avLst/>
          </a:prstGeom>
          <a:solidFill>
            <a:srgbClr val="FF6EC7">
              <a:alpha val="7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0" y="1645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645920"/>
            <a:ext cx="1828800" cy="384048"/>
          </a:xfrm>
          <a:prstGeom prst="rect">
            <a:avLst/>
          </a:prstGeom>
          <a:noFill/>
        </p:spPr>
        <p:txBody>
          <a:bodyPr wrap="none" lIns="228600" rIns="22860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OOP COURSE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0" b="1" i="0">
                <a:solidFill>
                  <a:srgbClr val="F5F5FA"/>
                </a:solidFill>
                <a:latin typeface="Calibri"/>
              </a:rPr>
              <a:t>StudyTable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A8A8C0"/>
                </a:solidFill>
                <a:latin typeface="Calibri"/>
              </a:rPr>
              <a:t>A small university — all in one desktop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75488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4754880"/>
            <a:ext cx="914400" cy="384048"/>
          </a:xfrm>
          <a:prstGeom prst="rect">
            <a:avLst/>
          </a:prstGeom>
          <a:noFill/>
        </p:spPr>
        <p:txBody>
          <a:bodyPr wrap="none" lIns="228600" rIns="22860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C++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75488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4754880"/>
            <a:ext cx="914400" cy="384048"/>
          </a:xfrm>
          <a:prstGeom prst="rect">
            <a:avLst/>
          </a:prstGeom>
          <a:noFill/>
        </p:spPr>
        <p:txBody>
          <a:bodyPr wrap="none" lIns="228600" rIns="22860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47548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754880"/>
            <a:ext cx="1280160" cy="384048"/>
          </a:xfrm>
          <a:prstGeom prst="rect">
            <a:avLst/>
          </a:prstGeom>
          <a:noFill/>
        </p:spPr>
        <p:txBody>
          <a:bodyPr wrap="none" lIns="228600" rIns="22860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CMake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75488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754880"/>
            <a:ext cx="914400" cy="384048"/>
          </a:xfrm>
          <a:prstGeom prst="rect">
            <a:avLst/>
          </a:prstGeom>
          <a:noFill/>
        </p:spPr>
        <p:txBody>
          <a:bodyPr wrap="none" lIns="228600" rIns="22860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8A8C0"/>
                </a:solidFill>
                <a:latin typeface="Calibri"/>
              </a:rPr>
              <a:t>15-minute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Why we built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577840" cy="402336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In real life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5029200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A small school needs to keep track of: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  •  Who are the students?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  •  Who are the teachers?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  •  Which courses exist?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  •  Who studies what?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  •  What grades did they get?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20240"/>
            <a:ext cx="5577840" cy="402336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The old 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97480"/>
            <a:ext cx="5029200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Paper, Excel files, lost notes,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no roles, no rules.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We wanted one simple app where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everyone has their own view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and the data is always safe on disk.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StudyTable — one app, three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2287" y="210312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287" y="23317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0" i="0">
                <a:solidFill>
                  <a:srgbClr val="F5F5FA"/>
                </a:solidFill>
                <a:latin typeface="Calibri"/>
              </a:rPr>
              <a:t>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287" y="36576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  <a:latin typeface="Calibri"/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42976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5F5FA"/>
                </a:solidFill>
                <a:latin typeface="Calibri"/>
              </a:rPr>
              <a:t>Creates courses and enrolls students into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047" y="210312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7047" y="23317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0" i="0">
                <a:solidFill>
                  <a:srgbClr val="F5F5FA"/>
                </a:solidFill>
                <a:latin typeface="Calibri"/>
              </a:rPr>
              <a:t>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047" y="36576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  <a:latin typeface="Calibri"/>
              </a:rPr>
              <a:t>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42976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5F5FA"/>
                </a:solidFill>
                <a:latin typeface="Calibri"/>
              </a:rPr>
              <a:t>Sees their courses, their students, and gives grades.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807" y="210312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1807" y="23317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0" i="0">
                <a:solidFill>
                  <a:srgbClr val="F5F5FA"/>
                </a:solidFill>
                <a:latin typeface="Calibri"/>
              </a:rPr>
              <a:t>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1807" y="36576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  <a:latin typeface="Calibri"/>
              </a:rP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6127" y="42976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5F5FA"/>
                </a:solidFill>
                <a:latin typeface="Calibri"/>
              </a:rPr>
              <a:t>Sees their courses, their grades, and their average.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A8A8C0"/>
                </a:solidFill>
                <a:latin typeface="Calibri"/>
              </a:rPr>
              <a:t>Login → role detected → the right window opens. Simple.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Tools we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463040" cy="384048"/>
          </a:xfrm>
          <a:prstGeom prst="rect">
            <a:avLst/>
          </a:prstGeom>
          <a:noFill/>
        </p:spPr>
        <p:txBody>
          <a:bodyPr wrap="none" lIns="228600" rIns="22860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C++17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9202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920240"/>
            <a:ext cx="1463040" cy="384048"/>
          </a:xfrm>
          <a:prstGeom prst="rect">
            <a:avLst/>
          </a:prstGeom>
          <a:noFill/>
        </p:spPr>
        <p:txBody>
          <a:bodyPr wrap="none" lIns="228600" rIns="22860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Qt 5 / Qt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9202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920240"/>
            <a:ext cx="1463040" cy="384048"/>
          </a:xfrm>
          <a:prstGeom prst="rect">
            <a:avLst/>
          </a:prstGeom>
          <a:noFill/>
        </p:spPr>
        <p:txBody>
          <a:bodyPr wrap="none" lIns="228600" rIns="22860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QtWidgets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9202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1463040" cy="384048"/>
          </a:xfrm>
          <a:prstGeom prst="rect">
            <a:avLst/>
          </a:prstGeom>
          <a:noFill/>
        </p:spPr>
        <p:txBody>
          <a:bodyPr wrap="none" lIns="228600" rIns="22860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CMake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9202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920240"/>
            <a:ext cx="1463040" cy="384048"/>
          </a:xfrm>
          <a:prstGeom prst="rect">
            <a:avLst/>
          </a:prstGeom>
          <a:noFill/>
        </p:spPr>
        <p:txBody>
          <a:bodyPr wrap="none" lIns="228600" rIns="22860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.txt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9202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920240"/>
            <a:ext cx="1463040" cy="384048"/>
          </a:xfrm>
          <a:prstGeom prst="rect">
            <a:avLst/>
          </a:prstGeom>
          <a:noFill/>
        </p:spPr>
        <p:txBody>
          <a:bodyPr wrap="none" lIns="228600" rIns="22860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92608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154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Why C++ and Qt?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03320"/>
            <a:ext cx="502920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→  Classic OOP language. Perfect for the course.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→  Qt gives us a native UI fast.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→  Cross-platform: Windows, macOS, Linux.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92608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154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Why text files, not a database?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03320"/>
            <a:ext cx="502920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→  The focus is OOP, not SQL.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→  Easy to read, easy to share.</a:t>
            </a:r>
          </a:p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→  One FileManager class hides all I/O.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UI on top  ·  logic in FileManager  ·  data in plain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8288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5FA"/>
                </a:solidFill>
                <a:latin typeface="Calibri"/>
              </a:rPr>
              <a:t>main.cpp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6517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5FA"/>
                </a:solidFill>
                <a:latin typeface="Calibri"/>
              </a:rPr>
              <a:t>LoginWindow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5FA"/>
                </a:solidFill>
                <a:latin typeface="Calibri"/>
              </a:rPr>
              <a:t>AdminWindow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65760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6576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5FA"/>
                </a:solidFill>
                <a:latin typeface="Calibri"/>
              </a:rPr>
              <a:t>TeacherWindow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65760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6576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5F5FA"/>
                </a:solidFill>
                <a:latin typeface="Calibri"/>
              </a:rPr>
              <a:t>StudentWindow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663440"/>
            <a:ext cx="4846320" cy="594360"/>
          </a:xfrm>
          <a:prstGeom prst="roundRect">
            <a:avLst>
              <a:gd name="adj" fmla="val 10000"/>
            </a:avLst>
          </a:prstGeom>
          <a:solidFill>
            <a:srgbClr val="14142B"/>
          </a:solidFill>
          <a:ln w="12700">
            <a:solidFill>
              <a:srgbClr val="FF6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466344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FileManager   (users / courses / enrollments / grades)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5577840"/>
            <a:ext cx="3931920" cy="50292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FF6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557784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5F5FA"/>
                </a:solidFill>
                <a:latin typeface="Calibri"/>
              </a:rPr>
              <a:t>.txt data files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2377440"/>
            <a:ext cx="0" cy="274320"/>
          </a:xfrm>
          <a:prstGeom prst="bentConnector3">
            <a:avLst/>
          </a:prstGeom>
          <a:ln w="2540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377440" y="3200400"/>
            <a:ext cx="3703320" cy="457200"/>
          </a:xfrm>
          <a:prstGeom prst="bentConnector3">
            <a:avLst/>
          </a:prstGeom>
          <a:ln w="2540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0760" y="3200400"/>
            <a:ext cx="0" cy="457200"/>
          </a:xfrm>
          <a:prstGeom prst="bentConnector3">
            <a:avLst/>
          </a:prstGeom>
          <a:ln w="2540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80760" y="3200400"/>
            <a:ext cx="3703320" cy="457200"/>
          </a:xfrm>
          <a:prstGeom prst="bentConnector3">
            <a:avLst/>
          </a:prstGeom>
          <a:ln w="2540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77440" y="4206240"/>
            <a:ext cx="3703320" cy="457200"/>
          </a:xfrm>
          <a:prstGeom prst="bentConnector3">
            <a:avLst/>
          </a:prstGeom>
          <a:ln w="2540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4206240"/>
            <a:ext cx="0" cy="457200"/>
          </a:xfrm>
          <a:prstGeom prst="bentConnector3">
            <a:avLst/>
          </a:prstGeom>
          <a:ln w="2540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080760" y="4206240"/>
            <a:ext cx="3703320" cy="457200"/>
          </a:xfrm>
          <a:prstGeom prst="bentConnector3">
            <a:avLst/>
          </a:prstGeom>
          <a:ln w="2540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80760" y="5257800"/>
            <a:ext cx="0" cy="320040"/>
          </a:xfrm>
          <a:prstGeom prst="bentConnector3">
            <a:avLst/>
          </a:prstGeom>
          <a:ln w="2540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The 4 Pillars of 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Let's see where each pillar lives in our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transition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6879" y="2743200"/>
            <a:ext cx="2606040" cy="274320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879" y="30175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600" b="0" i="0">
                <a:solidFill>
                  <a:srgbClr val="F5F5FA"/>
                </a:solidFill>
                <a:latin typeface="Calibri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" y="44805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Calibri"/>
              </a:rPr>
              <a:t>Encapsulation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7511" y="2743200"/>
            <a:ext cx="2606040" cy="274320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7511" y="30175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600" b="0" i="0">
                <a:solidFill>
                  <a:srgbClr val="F5F5FA"/>
                </a:solidFill>
                <a:latin typeface="Calibri"/>
              </a:rPr>
              <a:t>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7511" y="44805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Calibri"/>
              </a:rPr>
              <a:t>Inheritance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2743200"/>
            <a:ext cx="2606040" cy="274320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30175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600" b="0" i="0">
                <a:solidFill>
                  <a:srgbClr val="F5F5FA"/>
                </a:solidFill>
                <a:latin typeface="Calibri"/>
              </a:rPr>
              <a:t>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8143" y="44805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Calibri"/>
              </a:rPr>
              <a:t>Polymorphism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8775" y="2743200"/>
            <a:ext cx="2606040" cy="274320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8775" y="30175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600" b="0" i="0">
                <a:solidFill>
                  <a:srgbClr val="F5F5FA"/>
                </a:solidFill>
                <a:latin typeface="Calibri"/>
              </a:rPr>
              <a:t>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8775" y="44805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Calibri"/>
              </a:rPr>
              <a:t>Abstraction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🔒 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Hide the data, expose only safe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6858000" cy="4206240"/>
          </a:xfrm>
          <a:prstGeom prst="roundRect">
            <a:avLst>
              <a:gd name="adj" fmla="val 6000"/>
            </a:avLst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6492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class User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{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private: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static int s_nextId;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protected: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int     m_id;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QString m_login;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QString m_password;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QString m_fullName;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public: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int     getId();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QString getLogin();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QString getFullName();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void setLogin(QString login);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void setPassword(QString password);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void setFullName(QString fullName);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};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920240"/>
            <a:ext cx="4297680" cy="420624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4884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What's happening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697480"/>
            <a:ext cx="374904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→  Fields are private / protected.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→  The outside world only sees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     getters and setters.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→  We control how the data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     is changed and validated.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→  Tomorrow we could add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     password hashing inside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     setPassword() — no caller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     would even notice.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🌳  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One base class, three child classes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94560" y="210312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14142B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1031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User  (abstract)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737360" cy="59436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5F5FA"/>
                </a:solidFill>
                <a:latin typeface="Calibri"/>
              </a:rP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3657600"/>
            <a:ext cx="1737360" cy="59436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6576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5F5FA"/>
                </a:solidFill>
                <a:latin typeface="Calibri"/>
              </a:rPr>
              <a:t>Teacher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657600"/>
            <a:ext cx="1737360" cy="594360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6576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5F5FA"/>
                </a:solidFill>
                <a:latin typeface="Calibri"/>
              </a:rPr>
              <a:t>Student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417320" y="2743200"/>
            <a:ext cx="1828800" cy="914400"/>
          </a:xfrm>
          <a:prstGeom prst="bentConnector3">
            <a:avLst/>
          </a:prstGeom>
          <a:ln w="1905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43200"/>
            <a:ext cx="91440" cy="914400"/>
          </a:xfrm>
          <a:prstGeom prst="bentConnector3">
            <a:avLst/>
          </a:prstGeom>
          <a:ln w="1905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46120" y="2743200"/>
            <a:ext cx="2011680" cy="914400"/>
          </a:xfrm>
          <a:prstGeom prst="bentConnector3">
            <a:avLst/>
          </a:prstGeom>
          <a:ln w="1905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4572000"/>
            <a:ext cx="6126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A8A8C0"/>
                </a:solidFill>
                <a:latin typeface="Calibri"/>
              </a:rPr>
              <a:t>Each role re-uses the same fields and methods</a:t>
            </a:r>
          </a:p>
          <a:p>
            <a:pPr algn="ctr"/>
            <a:r>
              <a:rPr sz="1400" b="0" i="0">
                <a:solidFill>
                  <a:srgbClr val="A8A8C0"/>
                </a:solidFill>
                <a:latin typeface="Calibri"/>
              </a:rPr>
              <a:t>from User: id, login, password, full name.</a:t>
            </a:r>
          </a:p>
          <a:p>
            <a:pPr algn="ctr"/>
            <a:r>
              <a:rPr sz="1400" b="0" i="0">
                <a:solidFill>
                  <a:srgbClr val="A8A8C0"/>
                </a:solidFill>
                <a:latin typeface="Calibri"/>
              </a:rPr>
              <a:t/>
            </a:r>
          </a:p>
          <a:p>
            <a:pPr algn="ctr"/>
            <a:r>
              <a:rPr sz="1400" b="0" i="0">
                <a:solidFill>
                  <a:srgbClr val="A8A8C0"/>
                </a:solidFill>
                <a:latin typeface="Calibri"/>
              </a:rPr>
              <a:t>No copy-paste.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9202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057400"/>
            <a:ext cx="47548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class Admin   : public User { /* ... */ };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class Teacher : public User { /* ... */ };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class Student : public User { /* ... */ };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// Constructors just forward to User: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Admin::Admin(int id, QString login,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         QString password, QString fullName)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    : User(id, login, password, fullName)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{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🎭 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Same call, different behavior — decided at 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6400800" cy="4206240"/>
          </a:xfrm>
          <a:prstGeom prst="roundRect">
            <a:avLst>
              <a:gd name="adj" fmla="val 6000"/>
            </a:avLst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60350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class User {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public: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   virtual UserRole getRole()     = 0;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   virtual QString  getRoleName() = 0;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   virtual User*    clone()       = 0;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};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QString Admin::getRoleName()   { return "admin"; }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QString Teacher::getRoleName() { return "teacher"; }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QString Student::getRoleName() { return "student"; }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User* Admin::clone()   { return new Admin(*this); }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User* Teacher::clone() { return new Teacher(*this); }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User* Student::clone() { return new Student(*this);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920240"/>
            <a:ext cx="4754880" cy="420624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1031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How we use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651760"/>
            <a:ext cx="4206240" cy="1920240"/>
          </a:xfrm>
          <a:prstGeom prst="roundRect">
            <a:avLst>
              <a:gd name="adj" fmla="val 6000"/>
            </a:avLst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788920"/>
            <a:ext cx="3840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>
                <a:solidFill>
                  <a:srgbClr val="E6E6FA"/>
                </a:solidFill>
                <a:latin typeface="Consolas"/>
              </a:rPr>
              <a:t>User* user = fm-&gt;login(...);</a:t>
            </a:r>
          </a:p>
          <a:p>
            <a:pPr algn="l"/>
            <a:r>
              <a:rPr sz="1100">
                <a:solidFill>
                  <a:srgbClr val="E6E6F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FA"/>
                </a:solidFill>
                <a:latin typeface="Consolas"/>
              </a:rPr>
              <a:t>if (user-&gt;getRole() == RoleAdmin)   { ... }</a:t>
            </a:r>
          </a:p>
          <a:p>
            <a:pPr algn="l"/>
            <a:r>
              <a:rPr sz="1100">
                <a:solidFill>
                  <a:srgbClr val="E6E6FA"/>
                </a:solidFill>
                <a:latin typeface="Consolas"/>
              </a:rPr>
              <a:t>if (user-&gt;getRole() == RoleTeacher) { ... }</a:t>
            </a:r>
          </a:p>
          <a:p>
            <a:pPr algn="l"/>
            <a:r>
              <a:rPr sz="1100">
                <a:solidFill>
                  <a:srgbClr val="E6E6FA"/>
                </a:solidFill>
                <a:latin typeface="Consolas"/>
              </a:rPr>
              <a:t>if (user-&gt;getRole() == RoleStudent) { ...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75488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A8A8C0"/>
                </a:solidFill>
                <a:latin typeface="Calibri"/>
              </a:rPr>
              <a:t>We hold a User*, but the right</a:t>
            </a:r>
          </a:p>
          <a:p>
            <a:pPr algn="l"/>
            <a:r>
              <a:rPr sz="1200" b="0" i="1">
                <a:solidFill>
                  <a:srgbClr val="A8A8C0"/>
                </a:solidFill>
                <a:latin typeface="Calibri"/>
              </a:rPr>
              <a:t>method runs for the real type.</a:t>
            </a:r>
          </a:p>
          <a:p>
            <a:pPr algn="l"/>
            <a:r>
              <a:rPr sz="1200" b="0" i="1">
                <a:solidFill>
                  <a:srgbClr val="A8A8C0"/>
                </a:solidFill>
                <a:latin typeface="Calibri"/>
              </a:rPr>
              <a:t/>
            </a:r>
          </a:p>
          <a:p>
            <a:pPr algn="l"/>
            <a:r>
              <a:rPr sz="1200" b="0" i="1">
                <a:solidFill>
                  <a:srgbClr val="A8A8C0"/>
                </a:solidFill>
                <a:latin typeface="Calibri"/>
              </a:rPr>
              <a:t>That's the magic of `virtual`.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🧊  Abstraction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Decide WHAT a class can do, hide HOW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577840" cy="420624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User is abstract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virtual UserRole getRole()     = 0;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virtual QString  getRoleName() = 0;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virtual User*    clone()       = 0;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A8A8C0"/>
                </a:solidFill>
                <a:latin typeface="Calibri"/>
              </a:rPr>
              <a:t>You cannot create a plain User.</a:t>
            </a:r>
          </a:p>
          <a:p>
            <a:pPr algn="l"/>
            <a:r>
              <a:rPr sz="1300" b="0" i="1">
                <a:solidFill>
                  <a:srgbClr val="A8A8C0"/>
                </a:solidFill>
                <a:latin typeface="Calibri"/>
              </a:rPr>
              <a:t/>
            </a:r>
          </a:p>
          <a:p>
            <a:pPr algn="l"/>
            <a:r>
              <a:rPr sz="1300" b="0" i="1">
                <a:solidFill>
                  <a:srgbClr val="A8A8C0"/>
                </a:solidFill>
                <a:latin typeface="Calibri"/>
              </a:rPr>
              <a:t>You must be Admin, Teacher,</a:t>
            </a:r>
          </a:p>
          <a:p>
            <a:pPr algn="l"/>
            <a:r>
              <a:rPr sz="1300" b="0" i="1">
                <a:solidFill>
                  <a:srgbClr val="A8A8C0"/>
                </a:solidFill>
                <a:latin typeface="Calibri"/>
              </a:rPr>
              <a:t>or Student. The contract is fixed,</a:t>
            </a:r>
          </a:p>
          <a:p>
            <a:pPr algn="l"/>
            <a:r>
              <a:rPr sz="1300" b="0" i="1">
                <a:solidFill>
                  <a:srgbClr val="A8A8C0"/>
                </a:solidFill>
                <a:latin typeface="Calibri"/>
              </a:rPr>
              <a:t>but each role implements it differently.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920240"/>
            <a:ext cx="5577840" cy="420624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103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FileManager is a black box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6517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78892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fm-&gt;addCourse("Math", teacherId);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fm-&gt;setGrade(enrollmentId, 95);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fm-&gt;getAverageGradeForStudent(id);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20624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A8A8C0"/>
                </a:solidFill>
                <a:latin typeface="Calibri"/>
              </a:rPr>
              <a:t>The UI doesn't care that data lives</a:t>
            </a:r>
          </a:p>
          <a:p>
            <a:pPr algn="l"/>
            <a:r>
              <a:rPr sz="1300" b="0" i="1">
                <a:solidFill>
                  <a:srgbClr val="A8A8C0"/>
                </a:solidFill>
                <a:latin typeface="Calibri"/>
              </a:rPr>
              <a:t>in .txt files.</a:t>
            </a:r>
          </a:p>
          <a:p>
            <a:pPr algn="l"/>
            <a:r>
              <a:rPr sz="1300" b="0" i="1">
                <a:solidFill>
                  <a:srgbClr val="A8A8C0"/>
                </a:solidFill>
                <a:latin typeface="Calibri"/>
              </a:rPr>
              <a:t/>
            </a:r>
          </a:p>
          <a:p>
            <a:pPr algn="l"/>
            <a:r>
              <a:rPr sz="1300" b="0" i="1">
                <a:solidFill>
                  <a:srgbClr val="A8A8C0"/>
                </a:solidFill>
                <a:latin typeface="Calibri"/>
              </a:rPr>
              <a:t>Tomorrow we could switch to SQL</a:t>
            </a:r>
          </a:p>
          <a:p>
            <a:pPr algn="l"/>
            <a:r>
              <a:rPr sz="1300" b="0" i="1">
                <a:solidFill>
                  <a:srgbClr val="A8A8C0"/>
                </a:solidFill>
                <a:latin typeface="Calibri"/>
              </a:rPr>
              <a:t>and the UI wouldn't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Our data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Four classes, four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11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What it stores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File on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11064240" cy="1905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User  (Admin / Teacher / Student)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0604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id, login, password, name,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6060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users.txt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11064240" cy="9525"/>
          </a:xfrm>
          <a:prstGeom prst="rect">
            <a:avLst/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4612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id, title, teacherId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24612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courses.txt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9040"/>
            <a:ext cx="11064240" cy="9525"/>
          </a:xfrm>
          <a:prstGeom prst="rect">
            <a:avLst/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8620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Enrollment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88620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id, studentId, courseId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8862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enrollments.txt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89120"/>
            <a:ext cx="11064240" cy="9525"/>
          </a:xfrm>
          <a:prstGeom prst="rect">
            <a:avLst/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2628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52628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id, enrollmentId, value (0–100)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5262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grades.txt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11064240" cy="9525"/>
          </a:xfrm>
          <a:prstGeom prst="rect">
            <a:avLst/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A8A8C0"/>
                </a:solidFill>
                <a:latin typeface="Calibri"/>
              </a:rPr>
              <a:t>Each line uses simple semicolon-separated format, for example: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0644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436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1;admin;admin123;Administrator;admin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2;jane;qwerty;Jane Smith;teacher</a:t>
            </a:r>
          </a:p>
          <a:p>
            <a:pPr algn="l"/>
            <a:r>
              <a:rPr sz="1300">
                <a:solidFill>
                  <a:srgbClr val="E6E6FA"/>
                </a:solidFill>
                <a:latin typeface="Consolas"/>
              </a:rPr>
              <a:t>3;leo;1234;Leo Brown;student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FileManager — the heart of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One class. All data. All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448056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→  Loads everything from .txt on start.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→  Keeps users / courses /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     enrollments / grades in memory.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→  Saves to disk after every change.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→  Knows the business rules: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     • no duplicate logins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     • grades 0–100</a:t>
            </a:r>
          </a:p>
          <a:p>
            <a:pPr algn="l"/>
            <a:r>
              <a:rPr sz="1300" b="0" i="0">
                <a:solidFill>
                  <a:srgbClr val="F5F5FA"/>
                </a:solidFill>
                <a:latin typeface="Calibri"/>
              </a:rPr>
              <a:t>     • only the course's teacher can grade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920240"/>
            <a:ext cx="6126480" cy="4206240"/>
          </a:xfrm>
          <a:prstGeom prst="roundRect">
            <a:avLst>
              <a:gd name="adj" fmla="val 6000"/>
            </a:avLst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057400"/>
            <a:ext cx="57607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class FileManager {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public: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   bool loadAll();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   bool saveAll();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   User* login(QString login, QString password);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   bool  registerUser(QString name, QString login,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                      QString pass, QString role);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   bool  addCourse(QString title, int teacherId);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   bool  addEnrollment(int studentId, int courseId);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   bool  setGrade(int enrollmentId, int value);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    double getAverageGradeForStudent(int studentId);</a:t>
            </a:r>
          </a:p>
          <a:p>
            <a:pPr algn="l"/>
            <a:r>
              <a:rPr sz="1200">
                <a:solidFill>
                  <a:srgbClr val="E6E6FA"/>
                </a:solidFill>
                <a:latin typeface="Consolas"/>
              </a:rPr>
              <a:t>};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Nice little patterns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Small things we are proud 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Auto-generated IDs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1460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static int s_nextId;</a:t>
            </a:r>
          </a:p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int User::generateNextId() {</a:t>
            </a:r>
          </a:p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    int value = s_nextId;</a:t>
            </a:r>
          </a:p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    s_nextId++;</a:t>
            </a:r>
          </a:p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    return value;</a:t>
            </a:r>
          </a:p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56032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A8A8C0"/>
                </a:solidFill>
                <a:latin typeface="Calibri"/>
              </a:rPr>
              <a:t>A static counter shared</a:t>
            </a:r>
          </a:p>
          <a:p>
            <a:pPr algn="l"/>
            <a:r>
              <a:rPr sz="1100" b="0" i="1">
                <a:solidFill>
                  <a:srgbClr val="A8A8C0"/>
                </a:solidFill>
                <a:latin typeface="Calibri"/>
              </a:rPr>
              <a:t>by all 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920240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Default admin on first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51460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5176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usersFile &lt;&lt; "1;admin;admin123;"</a:t>
            </a:r>
          </a:p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             "Administrator;admin\n";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56032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A8A8C0"/>
                </a:solidFill>
                <a:latin typeface="Calibri"/>
              </a:rPr>
              <a:t>First launch is never empty —</a:t>
            </a:r>
          </a:p>
          <a:p>
            <a:pPr algn="l"/>
            <a:r>
              <a:rPr sz="1100" b="0" i="1">
                <a:solidFill>
                  <a:srgbClr val="A8A8C0"/>
                </a:solidFill>
                <a:latin typeface="Calibri"/>
              </a:rPr>
              <a:t>you can always log 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34840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Manual file parsing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2920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splitSemicolon(line, parts, 5);</a:t>
            </a:r>
          </a:p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stringToInt(parts[0]);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507492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A8A8C0"/>
                </a:solidFill>
                <a:latin typeface="Calibri"/>
              </a:rPr>
              <a:t>Pure C++ — no external libs.</a:t>
            </a:r>
          </a:p>
          <a:p>
            <a:pPr algn="l"/>
            <a:r>
              <a:rPr sz="1100" b="0" i="1">
                <a:solidFill>
                  <a:srgbClr val="A8A8C0"/>
                </a:solidFill>
                <a:latin typeface="Calibri"/>
              </a:rPr>
              <a:t>We own the parser.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434840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Rule of three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502920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1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516636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User(const User&amp; other);</a:t>
            </a:r>
          </a:p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User&amp; operator=(const User&amp; other);</a:t>
            </a:r>
          </a:p>
          <a:p>
            <a:pPr algn="l"/>
            <a:r>
              <a:rPr sz="1000">
                <a:solidFill>
                  <a:srgbClr val="E6E6FA"/>
                </a:solidFill>
                <a:latin typeface="Consolas"/>
              </a:rPr>
              <a:t>virtual ~User();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507492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A8A8C0"/>
                </a:solidFill>
                <a:latin typeface="Calibri"/>
              </a:rPr>
              <a:t>Safe with pointers in</a:t>
            </a:r>
          </a:p>
          <a:p>
            <a:pPr algn="l"/>
            <a:r>
              <a:rPr sz="1100" b="0" i="1">
                <a:solidFill>
                  <a:srgbClr val="A8A8C0"/>
                </a:solidFill>
                <a:latin typeface="Calibri"/>
              </a:rPr>
              <a:t>vector&lt;User*&gt;.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The UI — four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Each role gets its own screen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LoginWindow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→  Enter login + password</a:t>
            </a:r>
          </a:p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→  Open registration window</a:t>
            </a:r>
          </a:p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→  Detects role and opens</a:t>
            </a:r>
          </a:p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     the right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2024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RegistrationWindow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6032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→  Register as student or teacher</a:t>
            </a:r>
          </a:p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→  Password confirmation</a:t>
            </a:r>
          </a:p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→  Validates empty fields and</a:t>
            </a:r>
          </a:p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     duplicate logins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AdminWindow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→  See all users and courses</a:t>
            </a:r>
          </a:p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→  Create new courses</a:t>
            </a:r>
          </a:p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     (link to a teacher)</a:t>
            </a:r>
          </a:p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→  Enroll students into courses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16052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297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Teacher  /  Student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80060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→  Teacher: own courses, students,</a:t>
            </a:r>
          </a:p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     set grades</a:t>
            </a:r>
          </a:p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→  Student: own courses, grades,</a:t>
            </a:r>
          </a:p>
          <a:p>
            <a:pPr algn="l"/>
            <a:r>
              <a:rPr sz="1200" b="0" i="0">
                <a:solidFill>
                  <a:srgbClr val="F5F5FA"/>
                </a:solidFill>
                <a:latin typeface="Calibri"/>
              </a:rPr>
              <a:t>     average grade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A8A8C0"/>
                </a:solidFill>
                <a:latin typeface="Calibri"/>
              </a:rPr>
              <a:t>All UI files are .ui (Qt Designer) → Qt auto-generates the C++ for 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A 60-second story we can show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848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Open app → first run creates default admin / admin123.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786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7860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51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Log in as admin → see users + courses, all empty.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4553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4553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1868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Log out → register Jane (teacher) and Leo (student).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1246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124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8561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Log back in as admin → add course "Intro to OOP" with Jane's ID, enroll Leo.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7939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793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35254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Log in as Jane → see the course + Leo, give him grade 95.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91947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Log in as Leo → see "Intro to OOP — grade 95, average 95.00".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1324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4132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5FA"/>
                </a:solidFill>
                <a:latin typeface="Calibri"/>
              </a:rPr>
              <a:t>Close the app, open it again → everything is still there.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Challenges &amp; what we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~1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577840" cy="420624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D166"/>
                </a:solidFill>
                <a:latin typeface="Calibri"/>
              </a:rPr>
              <a:t>🧩 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50292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→  </a:t>
            </a:r>
            <a:r>
              <a:rPr sz="1400">
                <a:solidFill>
                  <a:srgbClr val="F5F5FA"/>
                </a:solidFill>
                <a:latin typeface="Calibri"/>
              </a:rPr>
              <a:t>Managing vector&lt;User*&gt; without leaks.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→  </a:t>
            </a:r>
            <a:r>
              <a:rPr sz="1400">
                <a:solidFill>
                  <a:srgbClr val="F5F5FA"/>
                </a:solidFill>
                <a:latin typeface="Calibri"/>
              </a:rPr>
              <a:t>Parsing text files by hand, line by line.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→  </a:t>
            </a:r>
            <a:r>
              <a:rPr sz="1400">
                <a:solidFill>
                  <a:srgbClr val="F5F5FA"/>
                </a:solidFill>
                <a:latin typeface="Calibri"/>
              </a:rPr>
              <a:t>Wiring 4 windows together with Qt signals &amp; slots.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→  </a:t>
            </a:r>
            <a:r>
              <a:rPr sz="1400">
                <a:solidFill>
                  <a:srgbClr val="F5F5FA"/>
                </a:solidFill>
                <a:latin typeface="Calibri"/>
              </a:rPr>
              <a:t>Keeping IDs unique across 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20240"/>
            <a:ext cx="5577840" cy="4206240"/>
          </a:xfrm>
          <a:prstGeom prst="roundRect">
            <a:avLst>
              <a:gd name="adj" fmla="val 8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EE7B7"/>
                </a:solidFill>
                <a:latin typeface="Calibri"/>
              </a:rPr>
              <a:t>💡  Lessons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97480"/>
            <a:ext cx="50292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→  </a:t>
            </a:r>
            <a:r>
              <a:rPr sz="1400">
                <a:solidFill>
                  <a:srgbClr val="F5F5FA"/>
                </a:solidFill>
                <a:latin typeface="Calibri"/>
              </a:rPr>
              <a:t>OOP really helps: one base class kills duplicate code.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→  </a:t>
            </a:r>
            <a:r>
              <a:rPr sz="1400">
                <a:solidFill>
                  <a:srgbClr val="F5F5FA"/>
                </a:solidFill>
                <a:latin typeface="Calibri"/>
              </a:rPr>
              <a:t>A single data manager class makes the UI tiny.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→  </a:t>
            </a:r>
            <a:r>
              <a:rPr sz="1400">
                <a:solidFill>
                  <a:srgbClr val="F5F5FA"/>
                </a:solidFill>
                <a:latin typeface="Calibri"/>
              </a:rPr>
              <a:t>Virtual methods + pointers = clean role-based logic.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6EE7B7"/>
                </a:solidFill>
                <a:latin typeface="Calibri"/>
              </a:rPr>
              <a:t>→  </a:t>
            </a:r>
            <a:r>
              <a:rPr sz="1400">
                <a:solidFill>
                  <a:srgbClr val="F5F5FA"/>
                </a:solidFill>
                <a:latin typeface="Calibri"/>
              </a:rPr>
              <a:t>Save early, save often, save automatically.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5FA"/>
                </a:solidFill>
                <a:latin typeface="Calibri"/>
              </a:rPr>
              <a:t>What could come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C0"/>
                </a:solidFill>
                <a:latin typeface="Calibri"/>
              </a:rPr>
              <a:t>Future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2286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4142B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A8A8C0"/>
                </a:solidFill>
                <a:latin typeface="Calibri"/>
              </a:rPr>
              <a:t>~30 sec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2287" y="2103120"/>
            <a:ext cx="3657600" cy="1874519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287" y="228600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F5F5FA"/>
                </a:solidFill>
                <a:latin typeface="Calibri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31546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5F5FA"/>
                </a:solidFill>
                <a:latin typeface="Calibri"/>
              </a:rPr>
              <a:t>Hashed passwords instead of plain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047" y="2103120"/>
            <a:ext cx="3657600" cy="1874519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7047" y="228600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F5F5FA"/>
                </a:solidFill>
                <a:latin typeface="Calibri"/>
              </a:rPr>
              <a:t>🗄️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31546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5F5FA"/>
                </a:solidFill>
                <a:latin typeface="Calibri"/>
              </a:rPr>
              <a:t>Swap .txt for SQLite — same FileManager interface.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1807" y="2103120"/>
            <a:ext cx="3657600" cy="1874519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1807" y="228600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F5F5FA"/>
                </a:solidFill>
                <a:latin typeface="Calibri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127" y="31546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5F5FA"/>
                </a:solidFill>
                <a:latin typeface="Calibri"/>
              </a:rPr>
              <a:t>Charts for grade history and class averages.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287" y="4114799"/>
            <a:ext cx="3657600" cy="1874519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287" y="4297679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F5F5FA"/>
                </a:solidFill>
                <a:latin typeface="Calibri"/>
              </a:rPr>
              <a:t>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607" y="516635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5F5FA"/>
                </a:solidFill>
                <a:latin typeface="Calibri"/>
              </a:rPr>
              <a:t>Multi-language UI with Qt translations.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7047" y="4114799"/>
            <a:ext cx="3657600" cy="1874519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7047" y="4297679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F5F5FA"/>
                </a:solidFill>
                <a:latin typeface="Calibri"/>
              </a:rPr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1367" y="516635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5F5FA"/>
                </a:solidFill>
                <a:latin typeface="Calibri"/>
              </a:rPr>
              <a:t>Course schedules and deadlines.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1807" y="4114799"/>
            <a:ext cx="3657600" cy="1874519"/>
          </a:xfrm>
          <a:prstGeom prst="roundRect">
            <a:avLst>
              <a:gd name="adj" fmla="val 10000"/>
            </a:avLst>
          </a:prstGeom>
          <a:solidFill>
            <a:srgbClr val="1B1B38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1807" y="4297679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F5F5FA"/>
                </a:solidFill>
                <a:latin typeface="Calibri"/>
              </a:rPr>
              <a:t>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6127" y="516635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5F5FA"/>
                </a:solidFill>
                <a:latin typeface="Calibri"/>
              </a:rPr>
              <a:t>Unit tests for FileManager logic.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A8C0"/>
                </a:solidFill>
                <a:latin typeface="Calibri"/>
              </a:rPr>
              <a:t>StudyTable  ·  C++ / Qt  ·  OOP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A8C0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5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0D4FF">
              <a:alpha val="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0" y="-1371600"/>
            <a:ext cx="3657600" cy="3657600"/>
          </a:xfrm>
          <a:prstGeom prst="ellipse">
            <a:avLst/>
          </a:prstGeom>
          <a:solidFill>
            <a:srgbClr val="FF6EC7">
              <a:alpha val="7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94960" y="18288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828800"/>
            <a:ext cx="1828800" cy="384048"/>
          </a:xfrm>
          <a:prstGeom prst="rect">
            <a:avLst/>
          </a:prstGeom>
          <a:noFill/>
        </p:spPr>
        <p:txBody>
          <a:bodyPr wrap="none" lIns="228600" rIns="22860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THE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0" b="1" i="0">
                <a:solidFill>
                  <a:srgbClr val="F5F5FA"/>
                </a:solidFill>
                <a:latin typeface="Calibri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A8A8C0"/>
                </a:solidFill>
                <a:latin typeface="Calibri"/>
              </a:rPr>
              <a:t>Questions are very welcome.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Calibri"/>
              </a:rPr>
              <a:t>StudyTable  ·  C++  ·  Qt  ·  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